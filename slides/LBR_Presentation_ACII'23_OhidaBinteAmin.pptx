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Serif"/>
      <p:regular r:id="rId19"/>
      <p:bold r:id="rId20"/>
      <p:italic r:id="rId21"/>
      <p:boldItalic r:id="rId22"/>
    </p:embeddedFont>
    <p:embeddedFont>
      <p:font typeface="Proxima Nova"/>
      <p:regular r:id="rId23"/>
      <p:bold r:id="rId24"/>
      <p:italic r:id="rId25"/>
      <p:boldItalic r:id="rId26"/>
    </p:embeddedFon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EF4DE7-29CF-4C10-80EE-3FCB3BE84F87}">
  <a:tblStyle styleId="{C2EF4DE7-29CF-4C10-80EE-3FCB3BE84F8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Serif-bold.fntdata"/><Relationship Id="rId22" Type="http://schemas.openxmlformats.org/officeDocument/2006/relationships/font" Target="fonts/RobotoSerif-boldItalic.fntdata"/><Relationship Id="rId21" Type="http://schemas.openxmlformats.org/officeDocument/2006/relationships/font" Target="fonts/RobotoSerif-italic.fntdata"/><Relationship Id="rId24" Type="http://schemas.openxmlformats.org/officeDocument/2006/relationships/font" Target="fonts/ProximaNova-bold.fntdata"/><Relationship Id="rId23"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roximaNova-boldItalic.fntdata"/><Relationship Id="rId25" Type="http://schemas.openxmlformats.org/officeDocument/2006/relationships/font" Target="fonts/ProximaNova-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Serif-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789f9a262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789f9a262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789f9a262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789f9a262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789f9a2622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789f9a262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7a77d17b9f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7a77d17b9f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7a77d17b9f_5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7a77d17b9f_5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89f9a2622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789f9a2622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789f9a262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789f9a262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789f9a262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789f9a262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7a77d17b9f_5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7a77d17b9f_5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789f9a262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789f9a262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789f9a262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789f9a262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a6eed483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7a6eed483c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58" name="Shape 58"/>
        <p:cNvGrpSpPr/>
        <p:nvPr/>
      </p:nvGrpSpPr>
      <p:grpSpPr>
        <a:xfrm>
          <a:off x="0" y="0"/>
          <a:ext cx="0" cy="0"/>
          <a:chOff x="0" y="0"/>
          <a:chExt cx="0" cy="0"/>
        </a:xfrm>
      </p:grpSpPr>
      <p:cxnSp>
        <p:nvCxnSpPr>
          <p:cNvPr id="59" name="Google Shape;59;p13"/>
          <p:cNvCxnSpPr/>
          <p:nvPr/>
        </p:nvCxnSpPr>
        <p:spPr>
          <a:xfrm flipH="1" rot="10800000">
            <a:off x="25050" y="3392900"/>
            <a:ext cx="9093900" cy="13200"/>
          </a:xfrm>
          <a:prstGeom prst="straightConnector1">
            <a:avLst/>
          </a:prstGeom>
          <a:noFill/>
          <a:ln cap="flat" cmpd="sng" w="76200">
            <a:solidFill>
              <a:srgbClr val="CC4125"/>
            </a:solidFill>
            <a:prstDash val="solid"/>
            <a:round/>
            <a:headEnd len="med" w="med" type="none"/>
            <a:tailEnd len="med" w="med" type="none"/>
          </a:ln>
        </p:spPr>
      </p:cxnSp>
      <p:sp>
        <p:nvSpPr>
          <p:cNvPr id="60" name="Google Shape;60;p13"/>
          <p:cNvSpPr txBox="1"/>
          <p:nvPr/>
        </p:nvSpPr>
        <p:spPr>
          <a:xfrm>
            <a:off x="91350" y="1341450"/>
            <a:ext cx="89613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FFFFFF"/>
                </a:solidFill>
                <a:latin typeface="Roboto"/>
                <a:ea typeface="Roboto"/>
                <a:cs typeface="Roboto"/>
                <a:sym typeface="Roboto"/>
              </a:rPr>
              <a:t>Investigating Social Interaction Patterns with Depression Severity across Different Personality Traits Using Digital Phenotyping</a:t>
            </a:r>
            <a:endParaRPr sz="100">
              <a:solidFill>
                <a:schemeClr val="dk1"/>
              </a:solidFill>
              <a:latin typeface="Roboto"/>
              <a:ea typeface="Roboto"/>
              <a:cs typeface="Roboto"/>
              <a:sym typeface="Roboto"/>
            </a:endParaRPr>
          </a:p>
        </p:txBody>
      </p:sp>
      <p:sp>
        <p:nvSpPr>
          <p:cNvPr id="61" name="Google Shape;61;p13"/>
          <p:cNvSpPr txBox="1"/>
          <p:nvPr/>
        </p:nvSpPr>
        <p:spPr>
          <a:xfrm>
            <a:off x="687900" y="2852675"/>
            <a:ext cx="7635600" cy="71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600">
                <a:solidFill>
                  <a:srgbClr val="FFFFFF"/>
                </a:solidFill>
                <a:latin typeface="Roboto Serif"/>
                <a:ea typeface="Roboto Serif"/>
                <a:cs typeface="Roboto Serif"/>
                <a:sym typeface="Roboto Serif"/>
              </a:rPr>
              <a:t>Ohida Binte Amin</a:t>
            </a:r>
            <a:r>
              <a:rPr b="1" baseline="30000" lang="en" sz="1600">
                <a:solidFill>
                  <a:srgbClr val="FFFFFF"/>
                </a:solidFill>
                <a:latin typeface="Roboto Serif"/>
                <a:ea typeface="Roboto Serif"/>
                <a:cs typeface="Roboto Serif"/>
                <a:sym typeface="Roboto Serif"/>
              </a:rPr>
              <a:t>1, 2</a:t>
            </a:r>
            <a:r>
              <a:rPr b="1" lang="en" sz="1600">
                <a:solidFill>
                  <a:srgbClr val="FFFFFF"/>
                </a:solidFill>
                <a:latin typeface="Roboto Serif"/>
                <a:ea typeface="Roboto Serif"/>
                <a:cs typeface="Roboto Serif"/>
                <a:sym typeface="Roboto Serif"/>
              </a:rPr>
              <a:t>, Varun Mishra</a:t>
            </a:r>
            <a:r>
              <a:rPr b="1" baseline="30000" lang="en" sz="1600">
                <a:solidFill>
                  <a:srgbClr val="FFFFFF"/>
                </a:solidFill>
                <a:latin typeface="Roboto Serif"/>
                <a:ea typeface="Roboto Serif"/>
                <a:cs typeface="Roboto Serif"/>
                <a:sym typeface="Roboto Serif"/>
              </a:rPr>
              <a:t>1, 2</a:t>
            </a:r>
            <a:r>
              <a:rPr b="1" lang="en" sz="1600">
                <a:solidFill>
                  <a:srgbClr val="FFFFFF"/>
                </a:solidFill>
                <a:latin typeface="Roboto Serif"/>
                <a:ea typeface="Roboto Serif"/>
                <a:cs typeface="Roboto Serif"/>
                <a:sym typeface="Roboto Serif"/>
              </a:rPr>
              <a:t>, Aarti Sathyanarayana</a:t>
            </a:r>
            <a:r>
              <a:rPr b="1" baseline="30000" lang="en" sz="1600">
                <a:solidFill>
                  <a:srgbClr val="FFFFFF"/>
                </a:solidFill>
                <a:latin typeface="Roboto Serif"/>
                <a:ea typeface="Roboto Serif"/>
                <a:cs typeface="Roboto Serif"/>
                <a:sym typeface="Roboto Serif"/>
              </a:rPr>
              <a:t>1, 2, 3</a:t>
            </a:r>
            <a:endParaRPr b="1" baseline="30000" sz="1600">
              <a:solidFill>
                <a:srgbClr val="FFFFFF"/>
              </a:solidFill>
              <a:latin typeface="Roboto Serif"/>
              <a:ea typeface="Roboto Serif"/>
              <a:cs typeface="Roboto Serif"/>
              <a:sym typeface="Roboto Serif"/>
            </a:endParaRPr>
          </a:p>
          <a:p>
            <a:pPr indent="0" lvl="0" marL="0" rtl="0" algn="l">
              <a:spcBef>
                <a:spcPts val="0"/>
              </a:spcBef>
              <a:spcAft>
                <a:spcPts val="0"/>
              </a:spcAft>
              <a:buNone/>
            </a:pPr>
            <a:r>
              <a:t/>
            </a:r>
            <a:endParaRPr b="1" sz="1600">
              <a:solidFill>
                <a:srgbClr val="FFFFFF"/>
              </a:solidFill>
              <a:latin typeface="Roboto Serif"/>
              <a:ea typeface="Roboto Serif"/>
              <a:cs typeface="Roboto Serif"/>
              <a:sym typeface="Roboto Serif"/>
            </a:endParaRPr>
          </a:p>
        </p:txBody>
      </p:sp>
      <p:sp>
        <p:nvSpPr>
          <p:cNvPr id="62" name="Google Shape;62;p13"/>
          <p:cNvSpPr txBox="1"/>
          <p:nvPr/>
        </p:nvSpPr>
        <p:spPr>
          <a:xfrm>
            <a:off x="591125" y="3976950"/>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Roboto Serif"/>
                <a:ea typeface="Roboto Serif"/>
                <a:cs typeface="Roboto Serif"/>
                <a:sym typeface="Roboto Serif"/>
              </a:rPr>
              <a:t>THE</a:t>
            </a:r>
            <a:endParaRPr b="1">
              <a:solidFill>
                <a:schemeClr val="lt1"/>
              </a:solidFill>
              <a:latin typeface="Roboto Serif"/>
              <a:ea typeface="Roboto Serif"/>
              <a:cs typeface="Roboto Serif"/>
              <a:sym typeface="Roboto Serif"/>
            </a:endParaRPr>
          </a:p>
        </p:txBody>
      </p:sp>
      <p:sp>
        <p:nvSpPr>
          <p:cNvPr id="63" name="Google Shape;63;p13"/>
          <p:cNvSpPr txBox="1"/>
          <p:nvPr/>
        </p:nvSpPr>
        <p:spPr>
          <a:xfrm>
            <a:off x="591125" y="4576750"/>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Roboto Serif"/>
                <a:ea typeface="Roboto Serif"/>
                <a:cs typeface="Roboto Serif"/>
                <a:sym typeface="Roboto Serif"/>
              </a:rPr>
              <a:t>LAB</a:t>
            </a:r>
            <a:endParaRPr b="1">
              <a:solidFill>
                <a:schemeClr val="lt1"/>
              </a:solidFill>
              <a:latin typeface="Roboto Serif"/>
              <a:ea typeface="Roboto Serif"/>
              <a:cs typeface="Roboto Serif"/>
              <a:sym typeface="Roboto Serif"/>
            </a:endParaRPr>
          </a:p>
        </p:txBody>
      </p:sp>
      <p:pic>
        <p:nvPicPr>
          <p:cNvPr id="64" name="Google Shape;64;p13"/>
          <p:cNvPicPr preferRelativeResize="0"/>
          <p:nvPr/>
        </p:nvPicPr>
        <p:blipFill>
          <a:blip r:embed="rId3">
            <a:alphaModFix/>
          </a:blip>
          <a:stretch>
            <a:fillRect/>
          </a:stretch>
        </p:blipFill>
        <p:spPr>
          <a:xfrm>
            <a:off x="1419725" y="324100"/>
            <a:ext cx="828675" cy="964899"/>
          </a:xfrm>
          <a:prstGeom prst="rect">
            <a:avLst/>
          </a:prstGeom>
          <a:noFill/>
          <a:ln>
            <a:noFill/>
          </a:ln>
        </p:spPr>
      </p:pic>
      <p:sp>
        <p:nvSpPr>
          <p:cNvPr id="65" name="Google Shape;65;p13"/>
          <p:cNvSpPr txBox="1"/>
          <p:nvPr/>
        </p:nvSpPr>
        <p:spPr>
          <a:xfrm>
            <a:off x="206350" y="3389100"/>
            <a:ext cx="2597100" cy="1491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b="1">
              <a:solidFill>
                <a:schemeClr val="lt1"/>
              </a:solidFill>
              <a:latin typeface="Roboto Serif"/>
              <a:ea typeface="Roboto Serif"/>
              <a:cs typeface="Roboto Serif"/>
              <a:sym typeface="Roboto Serif"/>
            </a:endParaRPr>
          </a:p>
          <a:p>
            <a:pPr indent="0" lvl="0" marL="0" rtl="0" algn="just">
              <a:lnSpc>
                <a:spcPct val="115000"/>
              </a:lnSpc>
              <a:spcBef>
                <a:spcPts val="0"/>
              </a:spcBef>
              <a:spcAft>
                <a:spcPts val="0"/>
              </a:spcAft>
              <a:buNone/>
            </a:pPr>
            <a:r>
              <a:rPr b="1" lang="en">
                <a:solidFill>
                  <a:schemeClr val="lt1"/>
                </a:solidFill>
                <a:latin typeface="Roboto Serif"/>
                <a:ea typeface="Roboto Serif"/>
                <a:cs typeface="Roboto Serif"/>
                <a:sym typeface="Roboto Serif"/>
              </a:rPr>
              <a:t>  Contact Information:</a:t>
            </a:r>
            <a:endParaRPr b="1">
              <a:solidFill>
                <a:schemeClr val="lt1"/>
              </a:solidFill>
              <a:latin typeface="Roboto Serif"/>
              <a:ea typeface="Roboto Serif"/>
              <a:cs typeface="Roboto Serif"/>
              <a:sym typeface="Roboto Serif"/>
            </a:endParaRPr>
          </a:p>
          <a:p>
            <a:pPr indent="457200" lvl="0" marL="3200400" rtl="0" algn="just">
              <a:lnSpc>
                <a:spcPct val="115000"/>
              </a:lnSpc>
              <a:spcBef>
                <a:spcPts val="0"/>
              </a:spcBef>
              <a:spcAft>
                <a:spcPts val="0"/>
              </a:spcAft>
              <a:buNone/>
            </a:pPr>
            <a:r>
              <a:t/>
            </a:r>
            <a:endParaRPr sz="900">
              <a:solidFill>
                <a:schemeClr val="lt1"/>
              </a:solidFill>
              <a:latin typeface="Roboto Serif"/>
              <a:ea typeface="Roboto Serif"/>
              <a:cs typeface="Roboto Serif"/>
              <a:sym typeface="Roboto Serif"/>
            </a:endParaRPr>
          </a:p>
          <a:p>
            <a:pPr indent="457200" lvl="0" marL="3200400" rtl="0" algn="just">
              <a:lnSpc>
                <a:spcPct val="115000"/>
              </a:lnSpc>
              <a:spcBef>
                <a:spcPts val="0"/>
              </a:spcBef>
              <a:spcAft>
                <a:spcPts val="0"/>
              </a:spcAft>
              <a:buNone/>
            </a:pPr>
            <a:r>
              <a:t/>
            </a:r>
            <a:endParaRPr sz="1000">
              <a:solidFill>
                <a:schemeClr val="lt1"/>
              </a:solidFill>
              <a:latin typeface="Roboto Serif"/>
              <a:ea typeface="Roboto Serif"/>
              <a:cs typeface="Roboto Serif"/>
              <a:sym typeface="Roboto Serif"/>
            </a:endParaRPr>
          </a:p>
          <a:p>
            <a:pPr indent="0" lvl="0" marL="0" rtl="0" algn="just">
              <a:lnSpc>
                <a:spcPct val="115000"/>
              </a:lnSpc>
              <a:spcBef>
                <a:spcPts val="0"/>
              </a:spcBef>
              <a:spcAft>
                <a:spcPts val="0"/>
              </a:spcAft>
              <a:buNone/>
            </a:pPr>
            <a:r>
              <a:rPr lang="en" sz="1000">
                <a:solidFill>
                  <a:schemeClr val="lt1"/>
                </a:solidFill>
                <a:latin typeface="Roboto Serif"/>
                <a:ea typeface="Roboto Serif"/>
                <a:cs typeface="Roboto Serif"/>
                <a:sym typeface="Roboto Serif"/>
              </a:rPr>
              <a:t>                             </a:t>
            </a:r>
            <a:endParaRPr sz="1000">
              <a:solidFill>
                <a:schemeClr val="lt1"/>
              </a:solidFill>
              <a:latin typeface="Roboto Serif"/>
              <a:ea typeface="Roboto Serif"/>
              <a:cs typeface="Roboto Serif"/>
              <a:sym typeface="Roboto Serif"/>
            </a:endParaRPr>
          </a:p>
          <a:p>
            <a:pPr indent="457200" lvl="0" marL="3200400" rtl="0" algn="just">
              <a:lnSpc>
                <a:spcPct val="115000"/>
              </a:lnSpc>
              <a:spcBef>
                <a:spcPts val="0"/>
              </a:spcBef>
              <a:spcAft>
                <a:spcPts val="0"/>
              </a:spcAft>
              <a:buNone/>
            </a:pPr>
            <a:r>
              <a:t/>
            </a:r>
            <a:endParaRPr sz="900">
              <a:solidFill>
                <a:schemeClr val="lt1"/>
              </a:solidFill>
              <a:latin typeface="Roboto Serif"/>
              <a:ea typeface="Roboto Serif"/>
              <a:cs typeface="Roboto Serif"/>
              <a:sym typeface="Roboto Serif"/>
            </a:endParaRPr>
          </a:p>
          <a:p>
            <a:pPr indent="457200" lvl="0" marL="3200400" rtl="0" algn="just">
              <a:lnSpc>
                <a:spcPct val="115000"/>
              </a:lnSpc>
              <a:spcBef>
                <a:spcPts val="0"/>
              </a:spcBef>
              <a:spcAft>
                <a:spcPts val="0"/>
              </a:spcAft>
              <a:buNone/>
            </a:pPr>
            <a:r>
              <a:t/>
            </a:r>
            <a:endParaRPr sz="900">
              <a:solidFill>
                <a:schemeClr val="lt1"/>
              </a:solidFill>
              <a:latin typeface="Roboto Serif"/>
              <a:ea typeface="Roboto Serif"/>
              <a:cs typeface="Roboto Serif"/>
              <a:sym typeface="Roboto Serif"/>
            </a:endParaRPr>
          </a:p>
        </p:txBody>
      </p:sp>
      <p:pic>
        <p:nvPicPr>
          <p:cNvPr id="66" name="Google Shape;66;p13"/>
          <p:cNvPicPr preferRelativeResize="0"/>
          <p:nvPr/>
        </p:nvPicPr>
        <p:blipFill>
          <a:blip r:embed="rId4">
            <a:alphaModFix/>
          </a:blip>
          <a:stretch>
            <a:fillRect/>
          </a:stretch>
        </p:blipFill>
        <p:spPr>
          <a:xfrm>
            <a:off x="381000" y="279800"/>
            <a:ext cx="960135" cy="964900"/>
          </a:xfrm>
          <a:prstGeom prst="rect">
            <a:avLst/>
          </a:prstGeom>
          <a:noFill/>
          <a:ln>
            <a:noFill/>
          </a:ln>
        </p:spPr>
      </p:pic>
      <p:pic>
        <p:nvPicPr>
          <p:cNvPr id="67" name="Google Shape;67;p13"/>
          <p:cNvPicPr preferRelativeResize="0"/>
          <p:nvPr/>
        </p:nvPicPr>
        <p:blipFill>
          <a:blip r:embed="rId5">
            <a:alphaModFix/>
          </a:blip>
          <a:stretch>
            <a:fillRect/>
          </a:stretch>
        </p:blipFill>
        <p:spPr>
          <a:xfrm>
            <a:off x="7866275" y="226400"/>
            <a:ext cx="960125" cy="1007889"/>
          </a:xfrm>
          <a:prstGeom prst="rect">
            <a:avLst/>
          </a:prstGeom>
          <a:noFill/>
          <a:ln>
            <a:noFill/>
          </a:ln>
        </p:spPr>
      </p:pic>
      <p:pic>
        <p:nvPicPr>
          <p:cNvPr id="68" name="Google Shape;68;p13"/>
          <p:cNvPicPr preferRelativeResize="0"/>
          <p:nvPr/>
        </p:nvPicPr>
        <p:blipFill>
          <a:blip r:embed="rId6">
            <a:alphaModFix/>
          </a:blip>
          <a:stretch>
            <a:fillRect/>
          </a:stretch>
        </p:blipFill>
        <p:spPr>
          <a:xfrm>
            <a:off x="381000" y="4352925"/>
            <a:ext cx="1047750" cy="288132"/>
          </a:xfrm>
          <a:prstGeom prst="rect">
            <a:avLst/>
          </a:prstGeom>
          <a:noFill/>
          <a:ln>
            <a:noFill/>
          </a:ln>
        </p:spPr>
      </p:pic>
      <p:sp>
        <p:nvSpPr>
          <p:cNvPr id="69" name="Google Shape;69;p13"/>
          <p:cNvSpPr txBox="1"/>
          <p:nvPr/>
        </p:nvSpPr>
        <p:spPr>
          <a:xfrm>
            <a:off x="791700" y="4200525"/>
            <a:ext cx="8227200" cy="591000"/>
          </a:xfrm>
          <a:prstGeom prst="rect">
            <a:avLst/>
          </a:prstGeom>
          <a:noFill/>
          <a:ln>
            <a:noFill/>
          </a:ln>
        </p:spPr>
        <p:txBody>
          <a:bodyPr anchorCtr="0" anchor="t" bIns="91425" lIns="91425" spcFirstLastPara="1" rIns="91425" wrap="square" tIns="91425">
            <a:spAutoFit/>
          </a:bodyPr>
          <a:lstStyle/>
          <a:p>
            <a:pPr indent="457200" lvl="0" marL="3200400" rtl="0" algn="just">
              <a:lnSpc>
                <a:spcPct val="115000"/>
              </a:lnSpc>
              <a:spcBef>
                <a:spcPts val="0"/>
              </a:spcBef>
              <a:spcAft>
                <a:spcPts val="0"/>
              </a:spcAft>
              <a:buNone/>
            </a:pPr>
            <a:r>
              <a:rPr baseline="30000" lang="en" sz="800">
                <a:solidFill>
                  <a:schemeClr val="lt1"/>
                </a:solidFill>
                <a:latin typeface="Roboto Serif"/>
                <a:ea typeface="Roboto Serif"/>
                <a:cs typeface="Roboto Serif"/>
                <a:sym typeface="Roboto Serif"/>
              </a:rPr>
              <a:t>1</a:t>
            </a:r>
            <a:r>
              <a:rPr lang="en" sz="800">
                <a:solidFill>
                  <a:schemeClr val="lt1"/>
                </a:solidFill>
                <a:latin typeface="Roboto Serif"/>
                <a:ea typeface="Roboto Serif"/>
                <a:cs typeface="Roboto Serif"/>
                <a:sym typeface="Roboto Serif"/>
              </a:rPr>
              <a:t>Khoury College of Computer Sciences, Northeastern University, Boston, MA, ​</a:t>
            </a:r>
            <a:endParaRPr sz="800">
              <a:solidFill>
                <a:schemeClr val="lt1"/>
              </a:solidFill>
              <a:latin typeface="Roboto Serif"/>
              <a:ea typeface="Roboto Serif"/>
              <a:cs typeface="Roboto Serif"/>
              <a:sym typeface="Roboto Serif"/>
            </a:endParaRPr>
          </a:p>
          <a:p>
            <a:pPr indent="457200" lvl="0" marL="3200400" rtl="0" algn="just">
              <a:lnSpc>
                <a:spcPct val="115000"/>
              </a:lnSpc>
              <a:spcBef>
                <a:spcPts val="0"/>
              </a:spcBef>
              <a:spcAft>
                <a:spcPts val="0"/>
              </a:spcAft>
              <a:buNone/>
            </a:pPr>
            <a:r>
              <a:rPr baseline="30000" lang="en" sz="800">
                <a:solidFill>
                  <a:schemeClr val="lt1"/>
                </a:solidFill>
                <a:latin typeface="Roboto Serif"/>
                <a:ea typeface="Roboto Serif"/>
                <a:cs typeface="Roboto Serif"/>
                <a:sym typeface="Roboto Serif"/>
              </a:rPr>
              <a:t>2</a:t>
            </a:r>
            <a:r>
              <a:rPr lang="en" sz="800">
                <a:solidFill>
                  <a:schemeClr val="lt1"/>
                </a:solidFill>
                <a:latin typeface="Roboto Serif"/>
                <a:ea typeface="Roboto Serif"/>
                <a:cs typeface="Roboto Serif"/>
                <a:sym typeface="Roboto Serif"/>
              </a:rPr>
              <a:t>Bouve College of Health Sciences, Northeastern University, Boston, MA,​</a:t>
            </a:r>
            <a:endParaRPr sz="800">
              <a:solidFill>
                <a:schemeClr val="lt1"/>
              </a:solidFill>
              <a:latin typeface="Roboto Serif"/>
              <a:ea typeface="Roboto Serif"/>
              <a:cs typeface="Roboto Serif"/>
              <a:sym typeface="Roboto Serif"/>
            </a:endParaRPr>
          </a:p>
          <a:p>
            <a:pPr indent="457200" lvl="0" marL="3200400" rtl="0" algn="just">
              <a:lnSpc>
                <a:spcPct val="115000"/>
              </a:lnSpc>
              <a:spcBef>
                <a:spcPts val="0"/>
              </a:spcBef>
              <a:spcAft>
                <a:spcPts val="0"/>
              </a:spcAft>
              <a:buNone/>
            </a:pPr>
            <a:r>
              <a:rPr baseline="30000" lang="en" sz="800">
                <a:solidFill>
                  <a:schemeClr val="lt1"/>
                </a:solidFill>
                <a:latin typeface="Roboto Serif"/>
                <a:ea typeface="Roboto Serif"/>
                <a:cs typeface="Roboto Serif"/>
                <a:sym typeface="Roboto Serif"/>
              </a:rPr>
              <a:t>3</a:t>
            </a:r>
            <a:r>
              <a:rPr lang="en" sz="800">
                <a:solidFill>
                  <a:schemeClr val="lt1"/>
                </a:solidFill>
                <a:latin typeface="Roboto Serif"/>
                <a:ea typeface="Roboto Serif"/>
                <a:cs typeface="Roboto Serif"/>
                <a:sym typeface="Roboto Serif"/>
              </a:rPr>
              <a:t>Department of Biostatistics, Harvard T.H. Chan School of Public Health, Boston, MA</a:t>
            </a:r>
            <a:endParaRPr sz="800">
              <a:latin typeface="Proxima Nova"/>
              <a:ea typeface="Proxima Nova"/>
              <a:cs typeface="Proxima Nova"/>
              <a:sym typeface="Proxima Nova"/>
            </a:endParaRPr>
          </a:p>
        </p:txBody>
      </p:sp>
      <p:sp>
        <p:nvSpPr>
          <p:cNvPr id="70" name="Google Shape;70;p13"/>
          <p:cNvSpPr txBox="1"/>
          <p:nvPr/>
        </p:nvSpPr>
        <p:spPr>
          <a:xfrm>
            <a:off x="1352550" y="4250688"/>
            <a:ext cx="3546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Serif"/>
                <a:ea typeface="Roboto Serif"/>
                <a:cs typeface="Roboto Serif"/>
                <a:sym typeface="Roboto Serif"/>
              </a:rPr>
              <a:t>{amin.o, v.mishra,</a:t>
            </a:r>
            <a:r>
              <a:rPr lang="en" sz="1200">
                <a:solidFill>
                  <a:schemeClr val="lt1"/>
                </a:solidFill>
                <a:latin typeface="Roboto Serif"/>
                <a:ea typeface="Roboto Serif"/>
                <a:cs typeface="Roboto Serif"/>
                <a:sym typeface="Roboto Serif"/>
              </a:rPr>
              <a:t> </a:t>
            </a:r>
            <a:r>
              <a:rPr lang="en" sz="1200">
                <a:solidFill>
                  <a:schemeClr val="lt1"/>
                </a:solidFill>
                <a:latin typeface="Roboto Serif"/>
                <a:ea typeface="Roboto Serif"/>
                <a:cs typeface="Roboto Serif"/>
                <a:sym typeface="Roboto Serif"/>
              </a:rPr>
              <a:t>a.sathyanarayana}@northeastern.edu</a:t>
            </a:r>
            <a:endParaRPr sz="1200">
              <a:solidFill>
                <a:schemeClr val="lt1"/>
              </a:solidFill>
              <a:latin typeface="Roboto Serif"/>
              <a:ea typeface="Roboto Serif"/>
              <a:cs typeface="Roboto Serif"/>
              <a:sym typeface="Roboto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cxnSp>
        <p:nvCxnSpPr>
          <p:cNvPr id="75" name="Google Shape;75;p14"/>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pic>
        <p:nvPicPr>
          <p:cNvPr id="76" name="Google Shape;76;p14"/>
          <p:cNvPicPr preferRelativeResize="0"/>
          <p:nvPr/>
        </p:nvPicPr>
        <p:blipFill>
          <a:blip r:embed="rId3">
            <a:alphaModFix/>
          </a:blip>
          <a:stretch>
            <a:fillRect/>
          </a:stretch>
        </p:blipFill>
        <p:spPr>
          <a:xfrm>
            <a:off x="5556919" y="1149875"/>
            <a:ext cx="3066300" cy="2449982"/>
          </a:xfrm>
          <a:prstGeom prst="rect">
            <a:avLst/>
          </a:prstGeom>
          <a:noFill/>
          <a:ln>
            <a:noFill/>
          </a:ln>
        </p:spPr>
      </p:pic>
      <p:sp>
        <p:nvSpPr>
          <p:cNvPr id="77" name="Google Shape;77;p14"/>
          <p:cNvSpPr/>
          <p:nvPr/>
        </p:nvSpPr>
        <p:spPr>
          <a:xfrm>
            <a:off x="338550" y="1411575"/>
            <a:ext cx="4679700" cy="18360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n" sz="1800">
                <a:solidFill>
                  <a:schemeClr val="lt1"/>
                </a:solidFill>
                <a:latin typeface="Roboto Serif"/>
                <a:ea typeface="Roboto Serif"/>
                <a:cs typeface="Roboto Serif"/>
                <a:sym typeface="Roboto Serif"/>
              </a:rPr>
              <a:t>33% of college students experience mental health disorders, mostly depression and this issue is getting worse…</a:t>
            </a:r>
            <a:endParaRPr sz="1800">
              <a:solidFill>
                <a:schemeClr val="lt1"/>
              </a:solidFill>
              <a:latin typeface="Roboto Serif"/>
              <a:ea typeface="Roboto Serif"/>
              <a:cs typeface="Roboto Serif"/>
              <a:sym typeface="Roboto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cxnSp>
        <p:nvCxnSpPr>
          <p:cNvPr id="82" name="Google Shape;82;p15"/>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83" name="Google Shape;83;p15"/>
          <p:cNvSpPr/>
          <p:nvPr/>
        </p:nvSpPr>
        <p:spPr>
          <a:xfrm>
            <a:off x="1121500" y="1774725"/>
            <a:ext cx="7043400" cy="14328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solidFill>
                  <a:schemeClr val="lt1"/>
                </a:solidFill>
                <a:latin typeface="Roboto Serif"/>
                <a:ea typeface="Roboto Serif"/>
                <a:cs typeface="Roboto Serif"/>
                <a:sym typeface="Roboto Serif"/>
              </a:rPr>
              <a:t>Highly neurotic students with increased depression had more variation in the number of social contacts.​</a:t>
            </a:r>
            <a:endParaRPr b="1" sz="1800">
              <a:solidFill>
                <a:schemeClr val="lt1"/>
              </a:solidFill>
              <a:latin typeface="Roboto Serif"/>
              <a:ea typeface="Roboto Serif"/>
              <a:cs typeface="Roboto Serif"/>
              <a:sym typeface="Roboto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nvSpPr>
        <p:spPr>
          <a:xfrm>
            <a:off x="578250" y="1835875"/>
            <a:ext cx="1645800" cy="78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800">
                <a:solidFill>
                  <a:schemeClr val="accent2"/>
                </a:solidFill>
                <a:latin typeface="Roboto Serif"/>
                <a:ea typeface="Roboto Serif"/>
                <a:cs typeface="Roboto Serif"/>
                <a:sym typeface="Roboto Serif"/>
              </a:rPr>
              <a:t>StudentLife Dataset</a:t>
            </a:r>
            <a:endParaRPr>
              <a:latin typeface="Proxima Nova"/>
              <a:ea typeface="Proxima Nova"/>
              <a:cs typeface="Proxima Nova"/>
              <a:sym typeface="Proxima Nova"/>
            </a:endParaRPr>
          </a:p>
        </p:txBody>
      </p:sp>
      <p:sp>
        <p:nvSpPr>
          <p:cNvPr id="89" name="Google Shape;89;p16"/>
          <p:cNvSpPr/>
          <p:nvPr/>
        </p:nvSpPr>
        <p:spPr>
          <a:xfrm>
            <a:off x="179550" y="3711575"/>
            <a:ext cx="2595600" cy="11337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1800">
                <a:solidFill>
                  <a:schemeClr val="accent2"/>
                </a:solidFill>
                <a:latin typeface="Roboto Serif"/>
                <a:ea typeface="Roboto Serif"/>
                <a:cs typeface="Roboto Serif"/>
                <a:sym typeface="Roboto Serif"/>
              </a:rPr>
              <a:t>Active &amp; Passive Sensing Data from 48 Students</a:t>
            </a:r>
            <a:endParaRPr>
              <a:latin typeface="Proxima Nova"/>
              <a:ea typeface="Proxima Nova"/>
              <a:cs typeface="Proxima Nova"/>
              <a:sym typeface="Proxima Nova"/>
            </a:endParaRPr>
          </a:p>
        </p:txBody>
      </p:sp>
      <p:sp>
        <p:nvSpPr>
          <p:cNvPr id="90" name="Google Shape;90;p16"/>
          <p:cNvSpPr/>
          <p:nvPr/>
        </p:nvSpPr>
        <p:spPr>
          <a:xfrm>
            <a:off x="3500850" y="3906275"/>
            <a:ext cx="345600" cy="537000"/>
          </a:xfrm>
          <a:prstGeom prst="up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1" name="Google Shape;91;p16"/>
          <p:cNvSpPr/>
          <p:nvPr/>
        </p:nvSpPr>
        <p:spPr>
          <a:xfrm>
            <a:off x="3500850" y="4435000"/>
            <a:ext cx="345600" cy="537000"/>
          </a:xfrm>
          <a:prstGeom prst="downArrow">
            <a:avLst>
              <a:gd fmla="val 50000" name="adj1"/>
              <a:gd fmla="val 50000" name="adj2"/>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2" name="Google Shape;92;p16"/>
          <p:cNvSpPr/>
          <p:nvPr/>
        </p:nvSpPr>
        <p:spPr>
          <a:xfrm>
            <a:off x="3846450" y="4157900"/>
            <a:ext cx="1056600" cy="537000"/>
          </a:xfrm>
          <a:prstGeom prst="roundRect">
            <a:avLst>
              <a:gd fmla="val 16667" name="adj"/>
            </a:avLst>
          </a:prstGeom>
          <a:solidFill>
            <a:srgbClr val="A4C2F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Serif"/>
                <a:ea typeface="Roboto Serif"/>
                <a:cs typeface="Roboto Serif"/>
                <a:sym typeface="Roboto Serif"/>
              </a:rPr>
              <a:t>PHQ-9</a:t>
            </a:r>
            <a:endParaRPr sz="1800">
              <a:latin typeface="Roboto Serif"/>
              <a:ea typeface="Roboto Serif"/>
              <a:cs typeface="Roboto Serif"/>
              <a:sym typeface="Roboto Serif"/>
            </a:endParaRPr>
          </a:p>
        </p:txBody>
      </p:sp>
      <p:pic>
        <p:nvPicPr>
          <p:cNvPr id="93" name="Google Shape;93;p16"/>
          <p:cNvPicPr preferRelativeResize="0"/>
          <p:nvPr/>
        </p:nvPicPr>
        <p:blipFill>
          <a:blip r:embed="rId3">
            <a:alphaModFix/>
          </a:blip>
          <a:stretch>
            <a:fillRect/>
          </a:stretch>
        </p:blipFill>
        <p:spPr>
          <a:xfrm>
            <a:off x="761525" y="378475"/>
            <a:ext cx="1457400" cy="1457400"/>
          </a:xfrm>
          <a:prstGeom prst="rect">
            <a:avLst/>
          </a:prstGeom>
          <a:noFill/>
          <a:ln>
            <a:noFill/>
          </a:ln>
        </p:spPr>
      </p:pic>
      <p:cxnSp>
        <p:nvCxnSpPr>
          <p:cNvPr id="94" name="Google Shape;94;p16"/>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95" name="Google Shape;95;p16"/>
          <p:cNvSpPr/>
          <p:nvPr/>
        </p:nvSpPr>
        <p:spPr>
          <a:xfrm>
            <a:off x="1330875" y="2573775"/>
            <a:ext cx="345600" cy="1133700"/>
          </a:xfrm>
          <a:prstGeom prst="downArrow">
            <a:avLst>
              <a:gd fmla="val 50000" name="adj1"/>
              <a:gd fmla="val 50000" name="adj2"/>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6" name="Google Shape;96;p16"/>
          <p:cNvSpPr txBox="1"/>
          <p:nvPr/>
        </p:nvSpPr>
        <p:spPr>
          <a:xfrm>
            <a:off x="3327225" y="3867425"/>
            <a:ext cx="1756800" cy="1133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CC0000"/>
              </a:solidFill>
              <a:latin typeface="Proxima Nova"/>
              <a:ea typeface="Proxima Nova"/>
              <a:cs typeface="Proxima Nova"/>
              <a:sym typeface="Proxima Nova"/>
            </a:endParaRPr>
          </a:p>
        </p:txBody>
      </p:sp>
      <p:sp>
        <p:nvSpPr>
          <p:cNvPr id="97" name="Google Shape;97;p16"/>
          <p:cNvSpPr/>
          <p:nvPr/>
        </p:nvSpPr>
        <p:spPr>
          <a:xfrm rot="-5400000">
            <a:off x="2855125" y="4153651"/>
            <a:ext cx="345600" cy="468300"/>
          </a:xfrm>
          <a:prstGeom prst="downArrow">
            <a:avLst>
              <a:gd fmla="val 50000" name="adj1"/>
              <a:gd fmla="val 50000" name="adj2"/>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8" name="Google Shape;98;p16"/>
          <p:cNvSpPr txBox="1"/>
          <p:nvPr/>
        </p:nvSpPr>
        <p:spPr>
          <a:xfrm>
            <a:off x="5279675" y="3867425"/>
            <a:ext cx="1756800" cy="1133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CC0000"/>
              </a:solidFill>
              <a:latin typeface="Proxima Nova"/>
              <a:ea typeface="Proxima Nova"/>
              <a:cs typeface="Proxima Nova"/>
              <a:sym typeface="Proxima Nova"/>
            </a:endParaRPr>
          </a:p>
        </p:txBody>
      </p:sp>
      <p:sp>
        <p:nvSpPr>
          <p:cNvPr id="99" name="Google Shape;99;p16"/>
          <p:cNvSpPr txBox="1"/>
          <p:nvPr/>
        </p:nvSpPr>
        <p:spPr>
          <a:xfrm>
            <a:off x="7232125" y="3867425"/>
            <a:ext cx="1756800" cy="1133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CC0000"/>
              </a:solidFill>
              <a:latin typeface="Proxima Nova"/>
              <a:ea typeface="Proxima Nova"/>
              <a:cs typeface="Proxima Nova"/>
              <a:sym typeface="Proxima Nova"/>
            </a:endParaRPr>
          </a:p>
        </p:txBody>
      </p:sp>
      <p:pic>
        <p:nvPicPr>
          <p:cNvPr id="100" name="Google Shape;100;p16"/>
          <p:cNvPicPr preferRelativeResize="0"/>
          <p:nvPr/>
        </p:nvPicPr>
        <p:blipFill>
          <a:blip r:embed="rId4">
            <a:alphaModFix/>
          </a:blip>
          <a:stretch>
            <a:fillRect/>
          </a:stretch>
        </p:blipFill>
        <p:spPr>
          <a:xfrm>
            <a:off x="5371650" y="4018405"/>
            <a:ext cx="702525" cy="831730"/>
          </a:xfrm>
          <a:prstGeom prst="rect">
            <a:avLst/>
          </a:prstGeom>
          <a:noFill/>
          <a:ln>
            <a:noFill/>
          </a:ln>
        </p:spPr>
      </p:pic>
      <p:sp>
        <p:nvSpPr>
          <p:cNvPr id="101" name="Google Shape;101;p16"/>
          <p:cNvSpPr/>
          <p:nvPr/>
        </p:nvSpPr>
        <p:spPr>
          <a:xfrm>
            <a:off x="6073000" y="4165775"/>
            <a:ext cx="806700" cy="537000"/>
          </a:xfrm>
          <a:prstGeom prst="roundRect">
            <a:avLst>
              <a:gd fmla="val 16667" name="adj"/>
            </a:avLst>
          </a:prstGeom>
          <a:solidFill>
            <a:srgbClr val="A4C2F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Roboto Serif"/>
                <a:ea typeface="Roboto Serif"/>
                <a:cs typeface="Roboto Serif"/>
                <a:sym typeface="Roboto Serif"/>
              </a:rPr>
              <a:t>EMA</a:t>
            </a:r>
            <a:endParaRPr sz="1800">
              <a:latin typeface="Roboto Serif"/>
              <a:ea typeface="Roboto Serif"/>
              <a:cs typeface="Roboto Serif"/>
              <a:sym typeface="Roboto Serif"/>
            </a:endParaRPr>
          </a:p>
        </p:txBody>
      </p:sp>
      <p:sp>
        <p:nvSpPr>
          <p:cNvPr id="102" name="Google Shape;102;p16"/>
          <p:cNvSpPr/>
          <p:nvPr/>
        </p:nvSpPr>
        <p:spPr>
          <a:xfrm>
            <a:off x="8125850" y="4165775"/>
            <a:ext cx="806700" cy="537000"/>
          </a:xfrm>
          <a:prstGeom prst="roundRect">
            <a:avLst>
              <a:gd fmla="val 16667" name="adj"/>
            </a:avLst>
          </a:prstGeom>
          <a:solidFill>
            <a:srgbClr val="A4C2F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Serif"/>
                <a:ea typeface="Roboto Serif"/>
                <a:cs typeface="Roboto Serif"/>
                <a:sym typeface="Roboto Serif"/>
              </a:rPr>
              <a:t>Big Five</a:t>
            </a:r>
            <a:endParaRPr sz="1800">
              <a:latin typeface="Roboto Serif"/>
              <a:ea typeface="Roboto Serif"/>
              <a:cs typeface="Roboto Serif"/>
              <a:sym typeface="Roboto Serif"/>
            </a:endParaRPr>
          </a:p>
        </p:txBody>
      </p:sp>
      <p:pic>
        <p:nvPicPr>
          <p:cNvPr id="103" name="Google Shape;103;p16"/>
          <p:cNvPicPr preferRelativeResize="0"/>
          <p:nvPr/>
        </p:nvPicPr>
        <p:blipFill>
          <a:blip r:embed="rId5">
            <a:alphaModFix/>
          </a:blip>
          <a:stretch>
            <a:fillRect/>
          </a:stretch>
        </p:blipFill>
        <p:spPr>
          <a:xfrm>
            <a:off x="7259075" y="4061995"/>
            <a:ext cx="806700" cy="718530"/>
          </a:xfrm>
          <a:prstGeom prst="rect">
            <a:avLst/>
          </a:prstGeom>
          <a:noFill/>
          <a:ln>
            <a:noFill/>
          </a:ln>
        </p:spPr>
      </p:pic>
      <p:sp>
        <p:nvSpPr>
          <p:cNvPr id="104" name="Google Shape;104;p16"/>
          <p:cNvSpPr txBox="1"/>
          <p:nvPr/>
        </p:nvSpPr>
        <p:spPr>
          <a:xfrm>
            <a:off x="2352550" y="208775"/>
            <a:ext cx="6583800" cy="3346500"/>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Proxima Nova"/>
              <a:ea typeface="Proxima Nova"/>
              <a:cs typeface="Proxima Nova"/>
              <a:sym typeface="Proxima Nova"/>
            </a:endParaRPr>
          </a:p>
        </p:txBody>
      </p:sp>
      <p:pic>
        <p:nvPicPr>
          <p:cNvPr id="105" name="Google Shape;105;p16"/>
          <p:cNvPicPr preferRelativeResize="0"/>
          <p:nvPr/>
        </p:nvPicPr>
        <p:blipFill>
          <a:blip r:embed="rId6">
            <a:alphaModFix/>
          </a:blip>
          <a:stretch>
            <a:fillRect/>
          </a:stretch>
        </p:blipFill>
        <p:spPr>
          <a:xfrm>
            <a:off x="2503526" y="1510223"/>
            <a:ext cx="1965961" cy="1600199"/>
          </a:xfrm>
          <a:prstGeom prst="rect">
            <a:avLst/>
          </a:prstGeom>
          <a:noFill/>
          <a:ln>
            <a:noFill/>
          </a:ln>
        </p:spPr>
      </p:pic>
      <p:pic>
        <p:nvPicPr>
          <p:cNvPr id="106" name="Google Shape;106;p16"/>
          <p:cNvPicPr preferRelativeResize="0"/>
          <p:nvPr/>
        </p:nvPicPr>
        <p:blipFill>
          <a:blip r:embed="rId7">
            <a:alphaModFix/>
          </a:blip>
          <a:stretch>
            <a:fillRect/>
          </a:stretch>
        </p:blipFill>
        <p:spPr>
          <a:xfrm>
            <a:off x="4768196" y="1668033"/>
            <a:ext cx="1965958" cy="1600199"/>
          </a:xfrm>
          <a:prstGeom prst="rect">
            <a:avLst/>
          </a:prstGeom>
          <a:noFill/>
          <a:ln>
            <a:noFill/>
          </a:ln>
        </p:spPr>
      </p:pic>
      <p:pic>
        <p:nvPicPr>
          <p:cNvPr id="107" name="Google Shape;107;p16"/>
          <p:cNvPicPr preferRelativeResize="0"/>
          <p:nvPr/>
        </p:nvPicPr>
        <p:blipFill>
          <a:blip r:embed="rId8">
            <a:alphaModFix/>
          </a:blip>
          <a:stretch>
            <a:fillRect/>
          </a:stretch>
        </p:blipFill>
        <p:spPr>
          <a:xfrm>
            <a:off x="6782262" y="1431762"/>
            <a:ext cx="1965961" cy="1600199"/>
          </a:xfrm>
          <a:prstGeom prst="rect">
            <a:avLst/>
          </a:prstGeom>
          <a:noFill/>
          <a:ln>
            <a:noFill/>
          </a:ln>
        </p:spPr>
      </p:pic>
      <p:sp>
        <p:nvSpPr>
          <p:cNvPr id="108" name="Google Shape;108;p16"/>
          <p:cNvSpPr txBox="1"/>
          <p:nvPr/>
        </p:nvSpPr>
        <p:spPr>
          <a:xfrm>
            <a:off x="2513100" y="1415175"/>
            <a:ext cx="2011800" cy="2057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CC0000"/>
              </a:solidFill>
              <a:latin typeface="Proxima Nova"/>
              <a:ea typeface="Proxima Nova"/>
              <a:cs typeface="Proxima Nova"/>
              <a:sym typeface="Proxima Nova"/>
            </a:endParaRPr>
          </a:p>
        </p:txBody>
      </p:sp>
      <p:sp>
        <p:nvSpPr>
          <p:cNvPr id="109" name="Google Shape;109;p16"/>
          <p:cNvSpPr txBox="1"/>
          <p:nvPr/>
        </p:nvSpPr>
        <p:spPr>
          <a:xfrm>
            <a:off x="4646700" y="1415175"/>
            <a:ext cx="2011800" cy="2057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CC0000"/>
              </a:solidFill>
              <a:latin typeface="Proxima Nova"/>
              <a:ea typeface="Proxima Nova"/>
              <a:cs typeface="Proxima Nova"/>
              <a:sym typeface="Proxima Nova"/>
            </a:endParaRPr>
          </a:p>
        </p:txBody>
      </p:sp>
      <p:sp>
        <p:nvSpPr>
          <p:cNvPr id="110" name="Google Shape;110;p16"/>
          <p:cNvSpPr txBox="1"/>
          <p:nvPr/>
        </p:nvSpPr>
        <p:spPr>
          <a:xfrm>
            <a:off x="6780300" y="1415175"/>
            <a:ext cx="2030100" cy="2057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CC0000"/>
              </a:solidFill>
              <a:latin typeface="Proxima Nova"/>
              <a:ea typeface="Proxima Nova"/>
              <a:cs typeface="Proxima Nova"/>
              <a:sym typeface="Proxima Nova"/>
            </a:endParaRPr>
          </a:p>
        </p:txBody>
      </p:sp>
      <p:sp>
        <p:nvSpPr>
          <p:cNvPr id="111" name="Google Shape;111;p16"/>
          <p:cNvSpPr txBox="1"/>
          <p:nvPr/>
        </p:nvSpPr>
        <p:spPr>
          <a:xfrm flipH="1">
            <a:off x="4042503" y="302275"/>
            <a:ext cx="3220200" cy="762601"/>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Roboto Serif"/>
                <a:ea typeface="Roboto Serif"/>
                <a:cs typeface="Roboto Serif"/>
                <a:sym typeface="Roboto Serif"/>
              </a:rPr>
              <a:t>Socio Demographics of Participants</a:t>
            </a:r>
            <a:endParaRPr b="1" sz="1800">
              <a:latin typeface="Roboto Serif"/>
              <a:ea typeface="Roboto Serif"/>
              <a:cs typeface="Roboto Serif"/>
              <a:sym typeface="Roboto Serif"/>
            </a:endParaRPr>
          </a:p>
        </p:txBody>
      </p:sp>
      <p:sp>
        <p:nvSpPr>
          <p:cNvPr id="112" name="Google Shape;112;p16"/>
          <p:cNvSpPr txBox="1"/>
          <p:nvPr/>
        </p:nvSpPr>
        <p:spPr>
          <a:xfrm flipH="1">
            <a:off x="2368201" y="954750"/>
            <a:ext cx="2458500" cy="47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Serif"/>
                <a:ea typeface="Roboto Serif"/>
                <a:cs typeface="Roboto Serif"/>
                <a:sym typeface="Roboto Serif"/>
              </a:rPr>
              <a:t>Education Level</a:t>
            </a:r>
            <a:endParaRPr sz="1800">
              <a:latin typeface="Roboto Serif"/>
              <a:ea typeface="Roboto Serif"/>
              <a:cs typeface="Roboto Serif"/>
              <a:sym typeface="Roboto Serif"/>
            </a:endParaRPr>
          </a:p>
        </p:txBody>
      </p:sp>
      <p:sp>
        <p:nvSpPr>
          <p:cNvPr id="113" name="Google Shape;113;p16"/>
          <p:cNvSpPr txBox="1"/>
          <p:nvPr/>
        </p:nvSpPr>
        <p:spPr>
          <a:xfrm flipH="1">
            <a:off x="4647001" y="954750"/>
            <a:ext cx="2458500" cy="47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Serif"/>
                <a:ea typeface="Roboto Serif"/>
                <a:cs typeface="Roboto Serif"/>
                <a:sym typeface="Roboto Serif"/>
              </a:rPr>
              <a:t>Gender</a:t>
            </a:r>
            <a:endParaRPr sz="1800">
              <a:latin typeface="Roboto Serif"/>
              <a:ea typeface="Roboto Serif"/>
              <a:cs typeface="Roboto Serif"/>
              <a:sym typeface="Roboto Serif"/>
            </a:endParaRPr>
          </a:p>
        </p:txBody>
      </p:sp>
      <p:sp>
        <p:nvSpPr>
          <p:cNvPr id="114" name="Google Shape;114;p16"/>
          <p:cNvSpPr txBox="1"/>
          <p:nvPr/>
        </p:nvSpPr>
        <p:spPr>
          <a:xfrm flipH="1">
            <a:off x="6633151" y="954750"/>
            <a:ext cx="2458500" cy="47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Serif"/>
                <a:ea typeface="Roboto Serif"/>
                <a:cs typeface="Roboto Serif"/>
                <a:sym typeface="Roboto Serif"/>
              </a:rPr>
              <a:t>Race &amp; Ethnicity</a:t>
            </a:r>
            <a:endParaRPr sz="1800">
              <a:latin typeface="Roboto Serif"/>
              <a:ea typeface="Roboto Serif"/>
              <a:cs typeface="Roboto Serif"/>
              <a:sym typeface="Roboto Serif"/>
            </a:endParaRPr>
          </a:p>
        </p:txBody>
      </p:sp>
      <p:sp>
        <p:nvSpPr>
          <p:cNvPr id="115" name="Google Shape;115;p16"/>
          <p:cNvSpPr txBox="1"/>
          <p:nvPr/>
        </p:nvSpPr>
        <p:spPr>
          <a:xfrm flipH="1">
            <a:off x="2449050" y="3116175"/>
            <a:ext cx="1192800" cy="34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Undergrads</a:t>
            </a:r>
            <a:endParaRPr sz="1300">
              <a:latin typeface="Roboto Serif"/>
              <a:ea typeface="Roboto Serif"/>
              <a:cs typeface="Roboto Serif"/>
              <a:sym typeface="Roboto Serif"/>
            </a:endParaRPr>
          </a:p>
        </p:txBody>
      </p:sp>
      <p:sp>
        <p:nvSpPr>
          <p:cNvPr id="116" name="Google Shape;116;p16"/>
          <p:cNvSpPr txBox="1"/>
          <p:nvPr/>
        </p:nvSpPr>
        <p:spPr>
          <a:xfrm flipH="1">
            <a:off x="4646850" y="3116175"/>
            <a:ext cx="11922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Roboto Serif"/>
                <a:ea typeface="Roboto Serif"/>
                <a:cs typeface="Roboto Serif"/>
                <a:sym typeface="Roboto Serif"/>
              </a:rPr>
              <a:t>Fem</a:t>
            </a:r>
            <a:r>
              <a:rPr lang="en" sz="1300">
                <a:latin typeface="Roboto Serif"/>
                <a:ea typeface="Roboto Serif"/>
                <a:cs typeface="Roboto Serif"/>
                <a:sym typeface="Roboto Serif"/>
              </a:rPr>
              <a:t>ale: 10</a:t>
            </a:r>
            <a:endParaRPr sz="1300">
              <a:latin typeface="Roboto Serif"/>
              <a:ea typeface="Roboto Serif"/>
              <a:cs typeface="Roboto Serif"/>
              <a:sym typeface="Roboto Serif"/>
            </a:endParaRPr>
          </a:p>
        </p:txBody>
      </p:sp>
      <p:sp>
        <p:nvSpPr>
          <p:cNvPr id="117" name="Google Shape;117;p16"/>
          <p:cNvSpPr txBox="1"/>
          <p:nvPr/>
        </p:nvSpPr>
        <p:spPr>
          <a:xfrm flipH="1">
            <a:off x="5631874" y="1497200"/>
            <a:ext cx="10524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Roboto Serif"/>
                <a:ea typeface="Roboto Serif"/>
                <a:cs typeface="Roboto Serif"/>
                <a:sym typeface="Roboto Serif"/>
              </a:rPr>
              <a:t>Male: 38 </a:t>
            </a:r>
            <a:endParaRPr sz="1300">
              <a:latin typeface="Roboto Serif"/>
              <a:ea typeface="Roboto Serif"/>
              <a:cs typeface="Roboto Serif"/>
              <a:sym typeface="Roboto Serif"/>
            </a:endParaRPr>
          </a:p>
        </p:txBody>
      </p:sp>
      <p:sp>
        <p:nvSpPr>
          <p:cNvPr id="118" name="Google Shape;118;p16"/>
          <p:cNvSpPr txBox="1"/>
          <p:nvPr/>
        </p:nvSpPr>
        <p:spPr>
          <a:xfrm flipH="1">
            <a:off x="3428550" y="3116175"/>
            <a:ext cx="1189800" cy="34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Graduates</a:t>
            </a:r>
            <a:endParaRPr sz="1300">
              <a:latin typeface="Roboto Serif"/>
              <a:ea typeface="Roboto Serif"/>
              <a:cs typeface="Roboto Serif"/>
              <a:sym typeface="Roboto Serif"/>
            </a:endParaRPr>
          </a:p>
        </p:txBody>
      </p:sp>
      <p:sp>
        <p:nvSpPr>
          <p:cNvPr id="119" name="Google Shape;119;p16"/>
          <p:cNvSpPr txBox="1"/>
          <p:nvPr/>
        </p:nvSpPr>
        <p:spPr>
          <a:xfrm flipH="1">
            <a:off x="3718346" y="1916299"/>
            <a:ext cx="542400" cy="32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18</a:t>
            </a:r>
            <a:endParaRPr sz="1300">
              <a:latin typeface="Roboto Serif"/>
              <a:ea typeface="Roboto Serif"/>
              <a:cs typeface="Roboto Serif"/>
              <a:sym typeface="Roboto Serif"/>
            </a:endParaRPr>
          </a:p>
        </p:txBody>
      </p:sp>
      <p:sp>
        <p:nvSpPr>
          <p:cNvPr id="120" name="Google Shape;120;p16"/>
          <p:cNvSpPr txBox="1"/>
          <p:nvPr/>
        </p:nvSpPr>
        <p:spPr>
          <a:xfrm flipH="1">
            <a:off x="2756721" y="1345524"/>
            <a:ext cx="542400" cy="32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30</a:t>
            </a:r>
            <a:endParaRPr sz="1300">
              <a:latin typeface="Roboto Serif"/>
              <a:ea typeface="Roboto Serif"/>
              <a:cs typeface="Roboto Serif"/>
              <a:sym typeface="Roboto Serif"/>
            </a:endParaRPr>
          </a:p>
        </p:txBody>
      </p:sp>
      <p:sp>
        <p:nvSpPr>
          <p:cNvPr id="121" name="Google Shape;121;p16"/>
          <p:cNvSpPr txBox="1"/>
          <p:nvPr/>
        </p:nvSpPr>
        <p:spPr>
          <a:xfrm flipH="1">
            <a:off x="6704250" y="3116175"/>
            <a:ext cx="2175600" cy="274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latin typeface="Roboto Serif"/>
                <a:ea typeface="Roboto Serif"/>
                <a:cs typeface="Roboto Serif"/>
                <a:sym typeface="Roboto Serif"/>
              </a:rPr>
              <a:t>Caucasian​ </a:t>
            </a:r>
            <a:r>
              <a:rPr lang="en" sz="1300">
                <a:latin typeface="Roboto Serif"/>
                <a:ea typeface="Roboto Serif"/>
                <a:cs typeface="Roboto Serif"/>
                <a:sym typeface="Roboto Serif"/>
              </a:rPr>
              <a:t>Asian Black</a:t>
            </a:r>
            <a:endParaRPr sz="1300">
              <a:latin typeface="Roboto Serif"/>
              <a:ea typeface="Roboto Serif"/>
              <a:cs typeface="Roboto Serif"/>
              <a:sym typeface="Roboto Serif"/>
            </a:endParaRPr>
          </a:p>
        </p:txBody>
      </p:sp>
      <p:sp>
        <p:nvSpPr>
          <p:cNvPr id="122" name="Google Shape;122;p16"/>
          <p:cNvSpPr txBox="1"/>
          <p:nvPr/>
        </p:nvSpPr>
        <p:spPr>
          <a:xfrm flipH="1">
            <a:off x="6835871" y="1929274"/>
            <a:ext cx="542400" cy="32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23</a:t>
            </a:r>
            <a:endParaRPr sz="1300">
              <a:latin typeface="Roboto Serif"/>
              <a:ea typeface="Roboto Serif"/>
              <a:cs typeface="Roboto Serif"/>
              <a:sym typeface="Roboto Serif"/>
            </a:endParaRPr>
          </a:p>
        </p:txBody>
      </p:sp>
      <p:sp>
        <p:nvSpPr>
          <p:cNvPr id="123" name="Google Shape;123;p16"/>
          <p:cNvSpPr txBox="1"/>
          <p:nvPr/>
        </p:nvSpPr>
        <p:spPr>
          <a:xfrm flipH="1">
            <a:off x="7445471" y="1929274"/>
            <a:ext cx="542400" cy="32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23</a:t>
            </a:r>
            <a:endParaRPr sz="1300">
              <a:latin typeface="Roboto Serif"/>
              <a:ea typeface="Roboto Serif"/>
              <a:cs typeface="Roboto Serif"/>
              <a:sym typeface="Roboto Serif"/>
            </a:endParaRPr>
          </a:p>
        </p:txBody>
      </p:sp>
      <p:sp>
        <p:nvSpPr>
          <p:cNvPr id="124" name="Google Shape;124;p16"/>
          <p:cNvSpPr txBox="1"/>
          <p:nvPr/>
        </p:nvSpPr>
        <p:spPr>
          <a:xfrm flipH="1">
            <a:off x="8131271" y="2615074"/>
            <a:ext cx="542400" cy="32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Serif"/>
                <a:ea typeface="Roboto Serif"/>
                <a:cs typeface="Roboto Serif"/>
                <a:sym typeface="Roboto Serif"/>
              </a:rPr>
              <a:t>2</a:t>
            </a:r>
            <a:endParaRPr sz="1300">
              <a:latin typeface="Roboto Serif"/>
              <a:ea typeface="Roboto Serif"/>
              <a:cs typeface="Roboto Serif"/>
              <a:sym typeface="Roboto Serif"/>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p:nvPr/>
        </p:nvSpPr>
        <p:spPr>
          <a:xfrm>
            <a:off x="914400" y="798838"/>
            <a:ext cx="7315200" cy="11430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sz="1800">
              <a:latin typeface="Proxima Nova"/>
              <a:ea typeface="Proxima Nova"/>
              <a:cs typeface="Proxima Nova"/>
              <a:sym typeface="Proxima Nova"/>
            </a:endParaRPr>
          </a:p>
        </p:txBody>
      </p:sp>
      <p:sp>
        <p:nvSpPr>
          <p:cNvPr id="130" name="Google Shape;130;p17"/>
          <p:cNvSpPr/>
          <p:nvPr/>
        </p:nvSpPr>
        <p:spPr>
          <a:xfrm>
            <a:off x="934650" y="2223975"/>
            <a:ext cx="7315200" cy="137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sz="1700">
              <a:latin typeface="Proxima Nova"/>
              <a:ea typeface="Proxima Nova"/>
              <a:cs typeface="Proxima Nova"/>
              <a:sym typeface="Proxima Nova"/>
            </a:endParaRPr>
          </a:p>
        </p:txBody>
      </p:sp>
      <p:sp>
        <p:nvSpPr>
          <p:cNvPr id="131" name="Google Shape;131;p17"/>
          <p:cNvSpPr/>
          <p:nvPr/>
        </p:nvSpPr>
        <p:spPr>
          <a:xfrm>
            <a:off x="891600" y="3843125"/>
            <a:ext cx="7315200" cy="11430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sz="1800">
              <a:solidFill>
                <a:schemeClr val="accent2"/>
              </a:solidFill>
              <a:latin typeface="Roboto Serif"/>
              <a:ea typeface="Roboto Serif"/>
              <a:cs typeface="Roboto Serif"/>
              <a:sym typeface="Roboto Serif"/>
            </a:endParaRPr>
          </a:p>
          <a:p>
            <a:pPr indent="0" lvl="0" marL="0" rtl="0" algn="ctr">
              <a:lnSpc>
                <a:spcPct val="115000"/>
              </a:lnSpc>
              <a:spcBef>
                <a:spcPts val="1200"/>
              </a:spcBef>
              <a:spcAft>
                <a:spcPts val="1200"/>
              </a:spcAft>
              <a:buNone/>
            </a:pPr>
            <a:r>
              <a:t/>
            </a:r>
            <a:endParaRPr sz="1800">
              <a:solidFill>
                <a:schemeClr val="accent2"/>
              </a:solidFill>
              <a:latin typeface="Roboto Serif"/>
              <a:ea typeface="Roboto Serif"/>
              <a:cs typeface="Roboto Serif"/>
              <a:sym typeface="Roboto Serif"/>
            </a:endParaRPr>
          </a:p>
        </p:txBody>
      </p:sp>
      <p:cxnSp>
        <p:nvCxnSpPr>
          <p:cNvPr id="132" name="Google Shape;132;p17"/>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133" name="Google Shape;133;p17"/>
          <p:cNvSpPr/>
          <p:nvPr/>
        </p:nvSpPr>
        <p:spPr>
          <a:xfrm>
            <a:off x="1960650" y="192100"/>
            <a:ext cx="5040600" cy="4770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solidFill>
                  <a:schemeClr val="lt1"/>
                </a:solidFill>
                <a:latin typeface="Roboto Serif"/>
                <a:ea typeface="Roboto Serif"/>
                <a:cs typeface="Roboto Serif"/>
                <a:sym typeface="Roboto Serif"/>
              </a:rPr>
              <a:t>Digital Phenotyping</a:t>
            </a:r>
            <a:endParaRPr b="1" sz="1800">
              <a:solidFill>
                <a:schemeClr val="lt1"/>
              </a:solidFill>
              <a:latin typeface="Roboto Serif"/>
              <a:ea typeface="Roboto Serif"/>
              <a:cs typeface="Roboto Serif"/>
              <a:sym typeface="Roboto Serif"/>
            </a:endParaRPr>
          </a:p>
        </p:txBody>
      </p:sp>
      <p:sp>
        <p:nvSpPr>
          <p:cNvPr id="134" name="Google Shape;134;p17"/>
          <p:cNvSpPr txBox="1"/>
          <p:nvPr/>
        </p:nvSpPr>
        <p:spPr>
          <a:xfrm>
            <a:off x="1650000" y="1021775"/>
            <a:ext cx="5844000" cy="78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800">
                <a:solidFill>
                  <a:schemeClr val="accent2"/>
                </a:solidFill>
                <a:latin typeface="Roboto Serif"/>
                <a:ea typeface="Roboto Serif"/>
                <a:cs typeface="Roboto Serif"/>
                <a:sym typeface="Roboto Serif"/>
              </a:rPr>
              <a:t>Preprocessing Data and </a:t>
            </a:r>
            <a:r>
              <a:rPr lang="en" sz="1800">
                <a:solidFill>
                  <a:schemeClr val="accent2"/>
                </a:solidFill>
                <a:latin typeface="Roboto Serif"/>
                <a:ea typeface="Roboto Serif"/>
                <a:cs typeface="Roboto Serif"/>
                <a:sym typeface="Roboto Serif"/>
              </a:rPr>
              <a:t>Coding Big Five Personality Scores</a:t>
            </a:r>
            <a:endParaRPr>
              <a:latin typeface="Proxima Nova"/>
              <a:ea typeface="Proxima Nova"/>
              <a:cs typeface="Proxima Nova"/>
              <a:sym typeface="Proxima Nova"/>
            </a:endParaRPr>
          </a:p>
        </p:txBody>
      </p:sp>
      <p:pic>
        <p:nvPicPr>
          <p:cNvPr id="135" name="Google Shape;135;p17"/>
          <p:cNvPicPr preferRelativeResize="0"/>
          <p:nvPr/>
        </p:nvPicPr>
        <p:blipFill>
          <a:blip r:embed="rId3">
            <a:alphaModFix/>
          </a:blip>
          <a:stretch>
            <a:fillRect/>
          </a:stretch>
        </p:blipFill>
        <p:spPr>
          <a:xfrm>
            <a:off x="3966225" y="2417000"/>
            <a:ext cx="2048256" cy="1051560"/>
          </a:xfrm>
          <a:prstGeom prst="rect">
            <a:avLst/>
          </a:prstGeom>
          <a:noFill/>
          <a:ln>
            <a:noFill/>
          </a:ln>
        </p:spPr>
      </p:pic>
      <p:sp>
        <p:nvSpPr>
          <p:cNvPr id="136" name="Google Shape;136;p17"/>
          <p:cNvSpPr txBox="1"/>
          <p:nvPr/>
        </p:nvSpPr>
        <p:spPr>
          <a:xfrm>
            <a:off x="890775" y="2360325"/>
            <a:ext cx="3028800" cy="109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800">
                <a:solidFill>
                  <a:schemeClr val="accent2"/>
                </a:solidFill>
                <a:latin typeface="Roboto Serif"/>
                <a:ea typeface="Roboto Serif"/>
                <a:cs typeface="Roboto Serif"/>
                <a:sym typeface="Roboto Serif"/>
              </a:rPr>
              <a:t>Centroid Analysis from Constrained K-means Clustering</a:t>
            </a:r>
            <a:endParaRPr>
              <a:latin typeface="Proxima Nova"/>
              <a:ea typeface="Proxima Nova"/>
              <a:cs typeface="Proxima Nova"/>
              <a:sym typeface="Proxima Nova"/>
            </a:endParaRPr>
          </a:p>
        </p:txBody>
      </p:sp>
      <p:sp>
        <p:nvSpPr>
          <p:cNvPr id="137" name="Google Shape;137;p17"/>
          <p:cNvSpPr txBox="1"/>
          <p:nvPr/>
        </p:nvSpPr>
        <p:spPr>
          <a:xfrm>
            <a:off x="424400" y="4017475"/>
            <a:ext cx="4032600" cy="78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800">
                <a:solidFill>
                  <a:schemeClr val="accent2"/>
                </a:solidFill>
                <a:latin typeface="Roboto Serif"/>
                <a:ea typeface="Roboto Serif"/>
                <a:cs typeface="Roboto Serif"/>
                <a:sym typeface="Roboto Serif"/>
              </a:rPr>
              <a:t>Trajectory Modeling on Subgroups of Clusters </a:t>
            </a:r>
            <a:endParaRPr>
              <a:latin typeface="Proxima Nova"/>
              <a:ea typeface="Proxima Nova"/>
              <a:cs typeface="Proxima Nova"/>
              <a:sym typeface="Proxima Nova"/>
            </a:endParaRPr>
          </a:p>
        </p:txBody>
      </p:sp>
      <p:pic>
        <p:nvPicPr>
          <p:cNvPr id="138" name="Google Shape;138;p17"/>
          <p:cNvPicPr preferRelativeResize="0"/>
          <p:nvPr/>
        </p:nvPicPr>
        <p:blipFill>
          <a:blip r:embed="rId4">
            <a:alphaModFix/>
          </a:blip>
          <a:stretch>
            <a:fillRect/>
          </a:stretch>
        </p:blipFill>
        <p:spPr>
          <a:xfrm>
            <a:off x="6112091" y="2408163"/>
            <a:ext cx="2048256" cy="1051560"/>
          </a:xfrm>
          <a:prstGeom prst="rect">
            <a:avLst/>
          </a:prstGeom>
          <a:noFill/>
          <a:ln>
            <a:noFill/>
          </a:ln>
        </p:spPr>
      </p:pic>
      <p:pic>
        <p:nvPicPr>
          <p:cNvPr id="139" name="Google Shape;139;p17"/>
          <p:cNvPicPr preferRelativeResize="0"/>
          <p:nvPr/>
        </p:nvPicPr>
        <p:blipFill>
          <a:blip r:embed="rId5">
            <a:alphaModFix/>
          </a:blip>
          <a:stretch>
            <a:fillRect/>
          </a:stretch>
        </p:blipFill>
        <p:spPr>
          <a:xfrm>
            <a:off x="5071177" y="3877700"/>
            <a:ext cx="2048255" cy="1051561"/>
          </a:xfrm>
          <a:prstGeom prst="rect">
            <a:avLst/>
          </a:prstGeom>
          <a:noFill/>
          <a:ln>
            <a:noFill/>
          </a:ln>
        </p:spPr>
      </p:pic>
      <p:sp>
        <p:nvSpPr>
          <p:cNvPr id="140" name="Google Shape;140;p17"/>
          <p:cNvSpPr/>
          <p:nvPr/>
        </p:nvSpPr>
        <p:spPr>
          <a:xfrm rot="-5400000">
            <a:off x="3712275" y="2840463"/>
            <a:ext cx="229500" cy="278400"/>
          </a:xfrm>
          <a:prstGeom prst="downArrow">
            <a:avLst>
              <a:gd fmla="val 50000" name="adj1"/>
              <a:gd fmla="val 50000" name="adj2"/>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1" name="Google Shape;141;p17"/>
          <p:cNvSpPr/>
          <p:nvPr/>
        </p:nvSpPr>
        <p:spPr>
          <a:xfrm rot="-5400000">
            <a:off x="4203050" y="4230338"/>
            <a:ext cx="229500" cy="278400"/>
          </a:xfrm>
          <a:prstGeom prst="downArrow">
            <a:avLst>
              <a:gd fmla="val 50000" name="adj1"/>
              <a:gd fmla="val 50000" name="adj2"/>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8"/>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147" name="Google Shape;147;p18"/>
          <p:cNvSpPr txBox="1"/>
          <p:nvPr>
            <p:ph idx="4294967295" type="body"/>
          </p:nvPr>
        </p:nvSpPr>
        <p:spPr>
          <a:xfrm>
            <a:off x="235500" y="231525"/>
            <a:ext cx="8520600" cy="828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2100">
                <a:solidFill>
                  <a:schemeClr val="accent2"/>
                </a:solidFill>
                <a:latin typeface="Roboto Serif"/>
                <a:ea typeface="Roboto Serif"/>
                <a:cs typeface="Roboto Serif"/>
                <a:sym typeface="Roboto Serif"/>
              </a:rPr>
              <a:t>Clustering Analysis Identifies Thre</a:t>
            </a:r>
            <a:r>
              <a:rPr lang="en" sz="2100">
                <a:solidFill>
                  <a:schemeClr val="accent2"/>
                </a:solidFill>
                <a:latin typeface="Roboto Serif"/>
                <a:ea typeface="Roboto Serif"/>
                <a:cs typeface="Roboto Serif"/>
                <a:sym typeface="Roboto Serif"/>
              </a:rPr>
              <a:t>e</a:t>
            </a:r>
            <a:r>
              <a:rPr lang="en" sz="2100">
                <a:solidFill>
                  <a:schemeClr val="accent2"/>
                </a:solidFill>
                <a:latin typeface="Roboto Serif"/>
                <a:ea typeface="Roboto Serif"/>
                <a:cs typeface="Roboto Serif"/>
                <a:sym typeface="Roboto Serif"/>
              </a:rPr>
              <a:t> Distinct Personality Traits</a:t>
            </a:r>
            <a:endParaRPr sz="2100">
              <a:solidFill>
                <a:schemeClr val="accent2"/>
              </a:solidFill>
              <a:latin typeface="Roboto Serif"/>
              <a:ea typeface="Roboto Serif"/>
              <a:cs typeface="Roboto Serif"/>
              <a:sym typeface="Roboto Serif"/>
            </a:endParaRPr>
          </a:p>
          <a:p>
            <a:pPr indent="0" lvl="0" marL="0" rtl="0" algn="l">
              <a:spcBef>
                <a:spcPts val="1200"/>
              </a:spcBef>
              <a:spcAft>
                <a:spcPts val="1200"/>
              </a:spcAft>
              <a:buNone/>
            </a:pPr>
            <a:r>
              <a:t/>
            </a:r>
            <a:endParaRPr>
              <a:solidFill>
                <a:schemeClr val="accent2"/>
              </a:solidFill>
              <a:latin typeface="Roboto Serif"/>
              <a:ea typeface="Roboto Serif"/>
              <a:cs typeface="Roboto Serif"/>
              <a:sym typeface="Roboto Serif"/>
            </a:endParaRPr>
          </a:p>
        </p:txBody>
      </p:sp>
      <p:sp>
        <p:nvSpPr>
          <p:cNvPr id="148" name="Google Shape;148;p18"/>
          <p:cNvSpPr/>
          <p:nvPr/>
        </p:nvSpPr>
        <p:spPr>
          <a:xfrm>
            <a:off x="235500" y="884639"/>
            <a:ext cx="3657600" cy="1051500"/>
          </a:xfrm>
          <a:prstGeom prst="roundRect">
            <a:avLst>
              <a:gd fmla="val 16667" name="adj"/>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rif"/>
                <a:ea typeface="Roboto Serif"/>
                <a:cs typeface="Roboto Serif"/>
                <a:sym typeface="Roboto Serif"/>
              </a:rPr>
              <a:t>Cluster 1 (16)  students with </a:t>
            </a:r>
            <a:r>
              <a:rPr b="1" lang="en" sz="1800">
                <a:solidFill>
                  <a:schemeClr val="lt1"/>
                </a:solidFill>
                <a:latin typeface="Roboto Serif"/>
                <a:ea typeface="Roboto Serif"/>
                <a:cs typeface="Roboto Serif"/>
                <a:sym typeface="Roboto Serif"/>
              </a:rPr>
              <a:t>high neuroticism​</a:t>
            </a:r>
            <a:endParaRPr b="1" sz="1800">
              <a:solidFill>
                <a:schemeClr val="lt1"/>
              </a:solidFill>
              <a:latin typeface="Roboto Serif"/>
              <a:ea typeface="Roboto Serif"/>
              <a:cs typeface="Roboto Serif"/>
              <a:sym typeface="Roboto Serif"/>
            </a:endParaRPr>
          </a:p>
        </p:txBody>
      </p:sp>
      <p:sp>
        <p:nvSpPr>
          <p:cNvPr id="149" name="Google Shape;149;p18"/>
          <p:cNvSpPr/>
          <p:nvPr/>
        </p:nvSpPr>
        <p:spPr>
          <a:xfrm>
            <a:off x="235500" y="2218475"/>
            <a:ext cx="3657600" cy="1051500"/>
          </a:xfrm>
          <a:prstGeom prst="roundRect">
            <a:avLst>
              <a:gd fmla="val 16667" name="adj"/>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rif"/>
                <a:ea typeface="Roboto Serif"/>
                <a:cs typeface="Roboto Serif"/>
                <a:sym typeface="Roboto Serif"/>
              </a:rPr>
              <a:t>Cluster 2 (13) students with </a:t>
            </a:r>
            <a:r>
              <a:rPr b="1" lang="en" sz="1800">
                <a:solidFill>
                  <a:schemeClr val="lt1"/>
                </a:solidFill>
                <a:latin typeface="Roboto Serif"/>
                <a:ea typeface="Roboto Serif"/>
                <a:cs typeface="Roboto Serif"/>
                <a:sym typeface="Roboto Serif"/>
              </a:rPr>
              <a:t>high conscientiousness &amp; low neuroticism​</a:t>
            </a:r>
            <a:endParaRPr b="1" sz="1800">
              <a:solidFill>
                <a:schemeClr val="lt1"/>
              </a:solidFill>
              <a:latin typeface="Roboto Serif"/>
              <a:ea typeface="Roboto Serif"/>
              <a:cs typeface="Roboto Serif"/>
              <a:sym typeface="Roboto Serif"/>
            </a:endParaRPr>
          </a:p>
        </p:txBody>
      </p:sp>
      <p:sp>
        <p:nvSpPr>
          <p:cNvPr id="150" name="Google Shape;150;p18"/>
          <p:cNvSpPr/>
          <p:nvPr/>
        </p:nvSpPr>
        <p:spPr>
          <a:xfrm>
            <a:off x="235500" y="3494703"/>
            <a:ext cx="3657600" cy="1051500"/>
          </a:xfrm>
          <a:prstGeom prst="roundRect">
            <a:avLst>
              <a:gd fmla="val 16667" name="adj"/>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rif"/>
                <a:ea typeface="Roboto Serif"/>
                <a:cs typeface="Roboto Serif"/>
                <a:sym typeface="Roboto Serif"/>
              </a:rPr>
              <a:t>Cluster 3 - (17) students with </a:t>
            </a:r>
            <a:r>
              <a:rPr b="1" lang="en" sz="1800">
                <a:solidFill>
                  <a:schemeClr val="lt1"/>
                </a:solidFill>
                <a:latin typeface="Roboto Serif"/>
                <a:ea typeface="Roboto Serif"/>
                <a:cs typeface="Roboto Serif"/>
                <a:sym typeface="Roboto Serif"/>
              </a:rPr>
              <a:t>low conscientiousness​</a:t>
            </a:r>
            <a:endParaRPr b="1" sz="1800">
              <a:solidFill>
                <a:schemeClr val="lt1"/>
              </a:solidFill>
              <a:latin typeface="Roboto Serif"/>
              <a:ea typeface="Roboto Serif"/>
              <a:cs typeface="Roboto Serif"/>
              <a:sym typeface="Roboto Serif"/>
            </a:endParaRPr>
          </a:p>
        </p:txBody>
      </p:sp>
      <p:graphicFrame>
        <p:nvGraphicFramePr>
          <p:cNvPr id="151" name="Google Shape;151;p18"/>
          <p:cNvGraphicFramePr/>
          <p:nvPr/>
        </p:nvGraphicFramePr>
        <p:xfrm>
          <a:off x="4926375" y="1113250"/>
          <a:ext cx="3000000" cy="3000000"/>
        </p:xfrm>
        <a:graphic>
          <a:graphicData uri="http://schemas.openxmlformats.org/drawingml/2006/table">
            <a:tbl>
              <a:tblPr>
                <a:noFill/>
                <a:tableStyleId>{C2EF4DE7-29CF-4C10-80EE-3FCB3BE84F87}</a:tableStyleId>
              </a:tblPr>
              <a:tblGrid>
                <a:gridCol w="1900900"/>
                <a:gridCol w="1928825"/>
              </a:tblGrid>
              <a:tr h="681550">
                <a:tc>
                  <a:txBody>
                    <a:bodyPr/>
                    <a:lstStyle/>
                    <a:p>
                      <a:pPr indent="0" lvl="0" marL="0" rtl="0" algn="ctr">
                        <a:lnSpc>
                          <a:spcPct val="115000"/>
                        </a:lnSpc>
                        <a:spcBef>
                          <a:spcPts val="0"/>
                        </a:spcBef>
                        <a:spcAft>
                          <a:spcPts val="0"/>
                        </a:spcAft>
                        <a:buNone/>
                      </a:pPr>
                      <a:r>
                        <a:rPr b="1" lang="en" sz="1800">
                          <a:solidFill>
                            <a:srgbClr val="FFFFFF"/>
                          </a:solidFill>
                          <a:latin typeface="Roboto"/>
                          <a:ea typeface="Roboto"/>
                          <a:cs typeface="Roboto"/>
                          <a:sym typeface="Roboto"/>
                        </a:rPr>
                        <a:t>Survey Type</a:t>
                      </a:r>
                      <a:endParaRPr b="1" sz="1800">
                        <a:solidFill>
                          <a:srgbClr val="FFFFFF"/>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b="1" lang="en" sz="1800">
                          <a:solidFill>
                            <a:srgbClr val="FFFFFF"/>
                          </a:solidFill>
                          <a:latin typeface="Roboto"/>
                          <a:ea typeface="Roboto"/>
                          <a:cs typeface="Roboto"/>
                          <a:sym typeface="Roboto"/>
                        </a:rPr>
                        <a:t>Variance in PHQ-9 Scores</a:t>
                      </a:r>
                      <a:endParaRPr b="1" sz="1800">
                        <a:solidFill>
                          <a:srgbClr val="FFFFFF"/>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980000"/>
                      </a:solidFill>
                      <a:prstDash val="solid"/>
                      <a:round/>
                      <a:headEnd len="sm" w="sm" type="none"/>
                      <a:tailEnd len="sm" w="sm" type="none"/>
                    </a:lnB>
                    <a:solidFill>
                      <a:srgbClr val="980000"/>
                    </a:solidFill>
                  </a:tcPr>
                </a:tc>
              </a:tr>
              <a:tr h="681550">
                <a:tc>
                  <a:txBody>
                    <a:bodyPr/>
                    <a:lstStyle/>
                    <a:p>
                      <a:pPr indent="0" lvl="0" marL="0" rtl="0" algn="ctr">
                        <a:lnSpc>
                          <a:spcPct val="115000"/>
                        </a:lnSpc>
                        <a:spcBef>
                          <a:spcPts val="0"/>
                        </a:spcBef>
                        <a:spcAft>
                          <a:spcPts val="0"/>
                        </a:spcAft>
                        <a:buNone/>
                      </a:pPr>
                      <a:r>
                        <a:rPr lang="en" sz="1800">
                          <a:solidFill>
                            <a:srgbClr val="262626"/>
                          </a:solidFill>
                          <a:latin typeface="Roboto"/>
                          <a:ea typeface="Roboto"/>
                          <a:cs typeface="Roboto"/>
                          <a:sym typeface="Roboto"/>
                        </a:rPr>
                        <a:t>pre-survey</a:t>
                      </a:r>
                      <a:endParaRPr sz="1800">
                        <a:solidFill>
                          <a:srgbClr val="262626"/>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rgbClr val="262626"/>
                          </a:solidFill>
                          <a:latin typeface="Roboto"/>
                          <a:ea typeface="Roboto"/>
                          <a:cs typeface="Roboto"/>
                          <a:sym typeface="Roboto"/>
                        </a:rPr>
                        <a:t>post-survey</a:t>
                      </a:r>
                      <a:endParaRPr sz="1800">
                        <a:solidFill>
                          <a:srgbClr val="262626"/>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98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17.0625</a:t>
                      </a:r>
                      <a:endParaRPr sz="1800">
                        <a:latin typeface="Roboto"/>
                        <a:ea typeface="Roboto"/>
                        <a:cs typeface="Roboto"/>
                        <a:sym typeface="Roboto"/>
                      </a:endParaRPr>
                    </a:p>
                    <a:p>
                      <a:pPr indent="0" lvl="0" marL="0" rtl="0" algn="ctr">
                        <a:lnSpc>
                          <a:spcPct val="115000"/>
                        </a:lnSpc>
                        <a:spcBef>
                          <a:spcPts val="0"/>
                        </a:spcBef>
                        <a:spcAft>
                          <a:spcPts val="0"/>
                        </a:spcAft>
                        <a:buNone/>
                      </a:pPr>
                      <a:r>
                        <a:rPr b="1" lang="en" sz="1800">
                          <a:solidFill>
                            <a:srgbClr val="C00000"/>
                          </a:solidFill>
                          <a:latin typeface="Roboto"/>
                          <a:ea typeface="Roboto"/>
                          <a:cs typeface="Roboto"/>
                          <a:sym typeface="Roboto"/>
                        </a:rPr>
                        <a:t>27.9743</a:t>
                      </a:r>
                      <a:endParaRPr b="1" sz="1800">
                        <a:solidFill>
                          <a:srgbClr val="C00000"/>
                        </a:solidFill>
                        <a:latin typeface="Roboto"/>
                        <a:ea typeface="Roboto"/>
                        <a:cs typeface="Roboto"/>
                        <a:sym typeface="Roboto"/>
                      </a:endParaRPr>
                    </a:p>
                  </a:txBody>
                  <a:tcPr marT="45725" marB="45725" marR="91450" marL="91450">
                    <a:lnL cap="flat" cmpd="sng" w="8650">
                      <a:solidFill>
                        <a:srgbClr val="980000"/>
                      </a:solidFill>
                      <a:prstDash val="solid"/>
                      <a:round/>
                      <a:headEnd len="sm" w="sm" type="none"/>
                      <a:tailEnd len="sm" w="sm" type="none"/>
                    </a:lnL>
                    <a:lnR cap="flat" cmpd="sng" w="8650">
                      <a:solidFill>
                        <a:srgbClr val="980000"/>
                      </a:solidFill>
                      <a:prstDash val="solid"/>
                      <a:round/>
                      <a:headEnd len="sm" w="sm" type="none"/>
                      <a:tailEnd len="sm" w="sm" type="none"/>
                    </a:lnR>
                    <a:lnT cap="flat" cmpd="sng" w="8650">
                      <a:solidFill>
                        <a:srgbClr val="980000"/>
                      </a:solidFill>
                      <a:prstDash val="solid"/>
                      <a:round/>
                      <a:headEnd len="sm" w="sm" type="none"/>
                      <a:tailEnd len="sm" w="sm" type="none"/>
                    </a:lnT>
                    <a:lnB cap="flat" cmpd="sng" w="8650">
                      <a:solidFill>
                        <a:srgbClr val="980000"/>
                      </a:solidFill>
                      <a:prstDash val="solid"/>
                      <a:round/>
                      <a:headEnd len="sm" w="sm" type="none"/>
                      <a:tailEnd len="sm" w="sm" type="none"/>
                    </a:lnB>
                  </a:tcPr>
                </a:tc>
              </a:tr>
            </a:tbl>
          </a:graphicData>
        </a:graphic>
      </p:graphicFrame>
      <p:graphicFrame>
        <p:nvGraphicFramePr>
          <p:cNvPr id="152" name="Google Shape;152;p18"/>
          <p:cNvGraphicFramePr/>
          <p:nvPr/>
        </p:nvGraphicFramePr>
        <p:xfrm>
          <a:off x="4926375" y="2553450"/>
          <a:ext cx="3000000" cy="3000000"/>
        </p:xfrm>
        <a:graphic>
          <a:graphicData uri="http://schemas.openxmlformats.org/drawingml/2006/table">
            <a:tbl>
              <a:tblPr>
                <a:noFill/>
                <a:tableStyleId>{C2EF4DE7-29CF-4C10-80EE-3FCB3BE84F87}</a:tableStyleId>
              </a:tblPr>
              <a:tblGrid>
                <a:gridCol w="1900900"/>
                <a:gridCol w="1928825"/>
              </a:tblGrid>
              <a:tr h="713750">
                <a:tc>
                  <a:txBody>
                    <a:bodyPr/>
                    <a:lstStyle/>
                    <a:p>
                      <a:pPr indent="0" lvl="0" marL="0" rtl="0" algn="ctr">
                        <a:lnSpc>
                          <a:spcPct val="115000"/>
                        </a:lnSpc>
                        <a:spcBef>
                          <a:spcPts val="0"/>
                        </a:spcBef>
                        <a:spcAft>
                          <a:spcPts val="0"/>
                        </a:spcAft>
                        <a:buNone/>
                      </a:pPr>
                      <a:r>
                        <a:rPr lang="en" sz="1800">
                          <a:solidFill>
                            <a:srgbClr val="262626"/>
                          </a:solidFill>
                          <a:latin typeface="Roboto"/>
                          <a:ea typeface="Roboto"/>
                          <a:cs typeface="Roboto"/>
                          <a:sym typeface="Roboto"/>
                        </a:rPr>
                        <a:t>pre-survey</a:t>
                      </a:r>
                      <a:endParaRPr sz="1800">
                        <a:solidFill>
                          <a:srgbClr val="262626"/>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rgbClr val="262626"/>
                          </a:solidFill>
                          <a:latin typeface="Roboto"/>
                          <a:ea typeface="Roboto"/>
                          <a:cs typeface="Roboto"/>
                          <a:sym typeface="Roboto"/>
                        </a:rPr>
                        <a:t>post-survey</a:t>
                      </a:r>
                      <a:endParaRPr sz="1800">
                        <a:solidFill>
                          <a:srgbClr val="262626"/>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98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43.2424</a:t>
                      </a:r>
                      <a:endParaRPr sz="1800">
                        <a:latin typeface="Roboto"/>
                        <a:ea typeface="Roboto"/>
                        <a:cs typeface="Roboto"/>
                        <a:sym typeface="Roboto"/>
                      </a:endParaRPr>
                    </a:p>
                    <a:p>
                      <a:pPr indent="0" lvl="0" marL="0" rtl="0" algn="ctr">
                        <a:lnSpc>
                          <a:spcPct val="115000"/>
                        </a:lnSpc>
                        <a:spcBef>
                          <a:spcPts val="0"/>
                        </a:spcBef>
                        <a:spcAft>
                          <a:spcPts val="0"/>
                        </a:spcAft>
                        <a:buNone/>
                      </a:pPr>
                      <a:r>
                        <a:rPr b="1" lang="en" sz="1800">
                          <a:solidFill>
                            <a:srgbClr val="C00000"/>
                          </a:solidFill>
                          <a:latin typeface="Roboto"/>
                          <a:ea typeface="Roboto"/>
                          <a:cs typeface="Roboto"/>
                          <a:sym typeface="Roboto"/>
                        </a:rPr>
                        <a:t>61.4285</a:t>
                      </a:r>
                      <a:endParaRPr b="1" sz="1800">
                        <a:solidFill>
                          <a:srgbClr val="C00000"/>
                        </a:solidFill>
                        <a:latin typeface="Roboto"/>
                        <a:ea typeface="Roboto"/>
                        <a:cs typeface="Roboto"/>
                        <a:sym typeface="Roboto"/>
                      </a:endParaRPr>
                    </a:p>
                  </a:txBody>
                  <a:tcPr marT="45725" marB="45725" marR="91450" marL="91450">
                    <a:lnL cap="flat" cmpd="sng" w="8650">
                      <a:solidFill>
                        <a:srgbClr val="980000"/>
                      </a:solidFill>
                      <a:prstDash val="solid"/>
                      <a:round/>
                      <a:headEnd len="sm" w="sm" type="none"/>
                      <a:tailEnd len="sm" w="sm" type="none"/>
                    </a:lnL>
                    <a:lnR cap="flat" cmpd="sng" w="8650">
                      <a:solidFill>
                        <a:srgbClr val="980000"/>
                      </a:solidFill>
                      <a:prstDash val="solid"/>
                      <a:round/>
                      <a:headEnd len="sm" w="sm" type="none"/>
                      <a:tailEnd len="sm" w="sm" type="none"/>
                    </a:lnR>
                    <a:lnT cap="flat" cmpd="sng" w="8650">
                      <a:solidFill>
                        <a:srgbClr val="980000"/>
                      </a:solidFill>
                      <a:prstDash val="solid"/>
                      <a:round/>
                      <a:headEnd len="sm" w="sm" type="none"/>
                      <a:tailEnd len="sm" w="sm" type="none"/>
                    </a:lnT>
                    <a:lnB cap="flat" cmpd="sng" w="8650">
                      <a:solidFill>
                        <a:srgbClr val="980000"/>
                      </a:solidFill>
                      <a:prstDash val="solid"/>
                      <a:round/>
                      <a:headEnd len="sm" w="sm" type="none"/>
                      <a:tailEnd len="sm" w="sm" type="none"/>
                    </a:lnB>
                  </a:tcPr>
                </a:tc>
              </a:tr>
            </a:tbl>
          </a:graphicData>
        </a:graphic>
      </p:graphicFrame>
      <p:graphicFrame>
        <p:nvGraphicFramePr>
          <p:cNvPr id="153" name="Google Shape;153;p18"/>
          <p:cNvGraphicFramePr/>
          <p:nvPr/>
        </p:nvGraphicFramePr>
        <p:xfrm>
          <a:off x="4926375" y="3280150"/>
          <a:ext cx="3000000" cy="3000000"/>
        </p:xfrm>
        <a:graphic>
          <a:graphicData uri="http://schemas.openxmlformats.org/drawingml/2006/table">
            <a:tbl>
              <a:tblPr>
                <a:noFill/>
                <a:tableStyleId>{C2EF4DE7-29CF-4C10-80EE-3FCB3BE84F87}</a:tableStyleId>
              </a:tblPr>
              <a:tblGrid>
                <a:gridCol w="1900900"/>
                <a:gridCol w="1928825"/>
              </a:tblGrid>
              <a:tr h="685800">
                <a:tc>
                  <a:txBody>
                    <a:bodyPr/>
                    <a:lstStyle/>
                    <a:p>
                      <a:pPr indent="0" lvl="0" marL="0" rtl="0" algn="ctr">
                        <a:lnSpc>
                          <a:spcPct val="115000"/>
                        </a:lnSpc>
                        <a:spcBef>
                          <a:spcPts val="0"/>
                        </a:spcBef>
                        <a:spcAft>
                          <a:spcPts val="0"/>
                        </a:spcAft>
                        <a:buNone/>
                      </a:pPr>
                      <a:r>
                        <a:rPr lang="en" sz="1800">
                          <a:solidFill>
                            <a:srgbClr val="262626"/>
                          </a:solidFill>
                          <a:latin typeface="Roboto"/>
                          <a:ea typeface="Roboto"/>
                          <a:cs typeface="Roboto"/>
                          <a:sym typeface="Roboto"/>
                        </a:rPr>
                        <a:t>pre-survey</a:t>
                      </a:r>
                      <a:endParaRPr sz="1800">
                        <a:solidFill>
                          <a:srgbClr val="262626"/>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rgbClr val="262626"/>
                          </a:solidFill>
                          <a:latin typeface="Roboto"/>
                          <a:ea typeface="Roboto"/>
                          <a:cs typeface="Roboto"/>
                          <a:sym typeface="Roboto"/>
                        </a:rPr>
                        <a:t>post-survey</a:t>
                      </a:r>
                      <a:endParaRPr sz="1800">
                        <a:solidFill>
                          <a:srgbClr val="262626"/>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98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7.1838</a:t>
                      </a:r>
                      <a:endParaRPr sz="1800">
                        <a:latin typeface="Roboto"/>
                        <a:ea typeface="Roboto"/>
                        <a:cs typeface="Roboto"/>
                        <a:sym typeface="Roboto"/>
                      </a:endParaRPr>
                    </a:p>
                    <a:p>
                      <a:pPr indent="0" lvl="0" marL="0" rtl="0" algn="ctr">
                        <a:lnSpc>
                          <a:spcPct val="115000"/>
                        </a:lnSpc>
                        <a:spcBef>
                          <a:spcPts val="0"/>
                        </a:spcBef>
                        <a:spcAft>
                          <a:spcPts val="0"/>
                        </a:spcAft>
                        <a:buNone/>
                      </a:pPr>
                      <a:r>
                        <a:rPr b="1" lang="en" sz="1800">
                          <a:solidFill>
                            <a:srgbClr val="C00000"/>
                          </a:solidFill>
                          <a:latin typeface="Roboto"/>
                          <a:ea typeface="Roboto"/>
                          <a:cs typeface="Roboto"/>
                          <a:sym typeface="Roboto"/>
                        </a:rPr>
                        <a:t>9.3166</a:t>
                      </a:r>
                      <a:endParaRPr b="1" sz="1800">
                        <a:solidFill>
                          <a:srgbClr val="C00000"/>
                        </a:solidFill>
                        <a:latin typeface="Roboto"/>
                        <a:ea typeface="Roboto"/>
                        <a:cs typeface="Roboto"/>
                        <a:sym typeface="Roboto"/>
                      </a:endParaRPr>
                    </a:p>
                  </a:txBody>
                  <a:tcPr marT="45725" marB="45725" marR="91450" marL="91450">
                    <a:lnL cap="flat" cmpd="sng" w="8650">
                      <a:solidFill>
                        <a:srgbClr val="980000"/>
                      </a:solidFill>
                      <a:prstDash val="solid"/>
                      <a:round/>
                      <a:headEnd len="sm" w="sm" type="none"/>
                      <a:tailEnd len="sm" w="sm" type="none"/>
                    </a:lnL>
                    <a:lnR cap="flat" cmpd="sng" w="8650">
                      <a:solidFill>
                        <a:srgbClr val="980000"/>
                      </a:solidFill>
                      <a:prstDash val="solid"/>
                      <a:round/>
                      <a:headEnd len="sm" w="sm" type="none"/>
                      <a:tailEnd len="sm" w="sm" type="none"/>
                    </a:lnR>
                    <a:lnT cap="flat" cmpd="sng" w="8650">
                      <a:solidFill>
                        <a:srgbClr val="980000"/>
                      </a:solidFill>
                      <a:prstDash val="solid"/>
                      <a:round/>
                      <a:headEnd len="sm" w="sm" type="none"/>
                      <a:tailEnd len="sm" w="sm" type="none"/>
                    </a:lnT>
                    <a:lnB cap="flat" cmpd="sng" w="8650">
                      <a:solidFill>
                        <a:srgbClr val="980000"/>
                      </a:solidFill>
                      <a:prstDash val="solid"/>
                      <a:round/>
                      <a:headEnd len="sm" w="sm" type="none"/>
                      <a:tailEnd len="sm" w="sm" type="none"/>
                    </a:lnB>
                  </a:tcPr>
                </a:tc>
              </a:tr>
            </a:tbl>
          </a:graphicData>
        </a:graphic>
      </p:graphicFrame>
      <p:cxnSp>
        <p:nvCxnSpPr>
          <p:cNvPr id="154" name="Google Shape;154;p18"/>
          <p:cNvCxnSpPr>
            <a:stCxn id="148" idx="3"/>
          </p:cNvCxnSpPr>
          <p:nvPr/>
        </p:nvCxnSpPr>
        <p:spPr>
          <a:xfrm>
            <a:off x="3893100" y="1410389"/>
            <a:ext cx="1058700" cy="660600"/>
          </a:xfrm>
          <a:prstGeom prst="straightConnector1">
            <a:avLst/>
          </a:prstGeom>
          <a:noFill/>
          <a:ln cap="flat" cmpd="sng" w="38100">
            <a:solidFill>
              <a:schemeClr val="accent5"/>
            </a:solidFill>
            <a:prstDash val="solid"/>
            <a:round/>
            <a:headEnd len="med" w="med" type="none"/>
            <a:tailEnd len="med" w="med" type="triangle"/>
          </a:ln>
        </p:spPr>
      </p:cxnSp>
      <p:cxnSp>
        <p:nvCxnSpPr>
          <p:cNvPr id="155" name="Google Shape;155;p18"/>
          <p:cNvCxnSpPr>
            <a:stCxn id="150" idx="3"/>
          </p:cNvCxnSpPr>
          <p:nvPr/>
        </p:nvCxnSpPr>
        <p:spPr>
          <a:xfrm flipH="1" rot="10800000">
            <a:off x="3893100" y="3739653"/>
            <a:ext cx="1031100" cy="280800"/>
          </a:xfrm>
          <a:prstGeom prst="straightConnector1">
            <a:avLst/>
          </a:prstGeom>
          <a:noFill/>
          <a:ln cap="flat" cmpd="sng" w="38100">
            <a:solidFill>
              <a:schemeClr val="accent5"/>
            </a:solidFill>
            <a:prstDash val="solid"/>
            <a:round/>
            <a:headEnd len="med" w="med" type="none"/>
            <a:tailEnd len="med" w="med" type="triangle"/>
          </a:ln>
        </p:spPr>
      </p:cxnSp>
      <p:cxnSp>
        <p:nvCxnSpPr>
          <p:cNvPr id="156" name="Google Shape;156;p18"/>
          <p:cNvCxnSpPr/>
          <p:nvPr/>
        </p:nvCxnSpPr>
        <p:spPr>
          <a:xfrm>
            <a:off x="3874775" y="2759850"/>
            <a:ext cx="1049400" cy="14400"/>
          </a:xfrm>
          <a:prstGeom prst="straightConnector1">
            <a:avLst/>
          </a:prstGeom>
          <a:noFill/>
          <a:ln cap="flat" cmpd="sng" w="38100">
            <a:solidFill>
              <a:schemeClr val="accent5"/>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cxnSp>
        <p:nvCxnSpPr>
          <p:cNvPr id="161" name="Google Shape;161;p19"/>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graphicFrame>
        <p:nvGraphicFramePr>
          <p:cNvPr id="162" name="Google Shape;162;p19"/>
          <p:cNvGraphicFramePr/>
          <p:nvPr/>
        </p:nvGraphicFramePr>
        <p:xfrm>
          <a:off x="259763" y="3057088"/>
          <a:ext cx="3000000" cy="3000000"/>
        </p:xfrm>
        <a:graphic>
          <a:graphicData uri="http://schemas.openxmlformats.org/drawingml/2006/table">
            <a:tbl>
              <a:tblPr>
                <a:noFill/>
                <a:tableStyleId>{C2EF4DE7-29CF-4C10-80EE-3FCB3BE84F87}</a:tableStyleId>
              </a:tblPr>
              <a:tblGrid>
                <a:gridCol w="1886875"/>
                <a:gridCol w="1644300"/>
                <a:gridCol w="1671250"/>
                <a:gridCol w="1680225"/>
                <a:gridCol w="1752100"/>
              </a:tblGrid>
              <a:tr h="100000">
                <a:tc>
                  <a:txBody>
                    <a:bodyPr/>
                    <a:lstStyle/>
                    <a:p>
                      <a:pPr indent="0" lvl="0" marL="0" rtl="0" algn="ctr">
                        <a:lnSpc>
                          <a:spcPct val="115000"/>
                        </a:lnSpc>
                        <a:spcBef>
                          <a:spcPts val="0"/>
                        </a:spcBef>
                        <a:spcAft>
                          <a:spcPts val="0"/>
                        </a:spcAft>
                        <a:buNone/>
                      </a:pPr>
                      <a:r>
                        <a:rPr lang="en" sz="1800">
                          <a:solidFill>
                            <a:schemeClr val="lt1"/>
                          </a:solidFill>
                          <a:latin typeface="Roboto"/>
                          <a:ea typeface="Roboto"/>
                          <a:cs typeface="Roboto"/>
                          <a:sym typeface="Roboto"/>
                        </a:rPr>
                        <a:t>Cluster 1 Students Subgroups</a:t>
                      </a:r>
                      <a:endParaRPr sz="1800">
                        <a:solidFill>
                          <a:schemeClr val="lt1"/>
                        </a:solidFill>
                        <a:latin typeface="Roboto"/>
                        <a:ea typeface="Roboto"/>
                        <a:cs typeface="Roboto"/>
                        <a:sym typeface="Roboto"/>
                      </a:endParaRPr>
                    </a:p>
                  </a:txBody>
                  <a:tcPr marT="45725" marB="45725" marR="91450" marL="91450">
                    <a:lnL cap="flat" cmpd="sng" w="8650">
                      <a:solidFill>
                        <a:schemeClr val="lt1"/>
                      </a:solidFill>
                      <a:prstDash val="solid"/>
                      <a:round/>
                      <a:headEnd len="sm" w="sm" type="none"/>
                      <a:tailEnd len="sm" w="sm" type="none"/>
                    </a:lnL>
                    <a:lnR cap="flat" cmpd="sng" w="8650">
                      <a:solidFill>
                        <a:schemeClr val="lt1"/>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chemeClr val="lt1"/>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lang="en" sz="1800">
                          <a:solidFill>
                            <a:schemeClr val="lt1"/>
                          </a:solidFill>
                          <a:latin typeface="Roboto"/>
                          <a:ea typeface="Roboto"/>
                          <a:cs typeface="Roboto"/>
                          <a:sym typeface="Roboto"/>
                        </a:rPr>
                        <a:t>Depression Difference</a:t>
                      </a:r>
                      <a:endParaRPr sz="1800">
                        <a:solidFill>
                          <a:schemeClr val="lt1"/>
                        </a:solidFill>
                        <a:latin typeface="Roboto"/>
                        <a:ea typeface="Roboto"/>
                        <a:cs typeface="Roboto"/>
                        <a:sym typeface="Roboto"/>
                      </a:endParaRPr>
                    </a:p>
                  </a:txBody>
                  <a:tcPr marT="45725" marB="45725" marR="91450" marL="91450">
                    <a:lnL cap="flat" cmpd="sng" w="8650">
                      <a:solidFill>
                        <a:schemeClr val="lt1"/>
                      </a:solidFill>
                      <a:prstDash val="solid"/>
                      <a:round/>
                      <a:headEnd len="sm" w="sm" type="none"/>
                      <a:tailEnd len="sm" w="sm" type="none"/>
                    </a:lnL>
                    <a:lnR cap="flat" cmpd="sng" w="8650">
                      <a:solidFill>
                        <a:schemeClr val="lt1"/>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chemeClr val="lt1"/>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lang="en" sz="1800">
                          <a:solidFill>
                            <a:schemeClr val="lt1"/>
                          </a:solidFill>
                          <a:latin typeface="Roboto"/>
                          <a:ea typeface="Roboto"/>
                          <a:cs typeface="Roboto"/>
                          <a:sym typeface="Roboto"/>
                        </a:rPr>
                        <a:t>Pre PHQ-9 Score Range</a:t>
                      </a:r>
                      <a:endParaRPr sz="1800">
                        <a:solidFill>
                          <a:schemeClr val="lt1"/>
                        </a:solidFill>
                        <a:latin typeface="Roboto"/>
                        <a:ea typeface="Roboto"/>
                        <a:cs typeface="Roboto"/>
                        <a:sym typeface="Roboto"/>
                      </a:endParaRPr>
                    </a:p>
                  </a:txBody>
                  <a:tcPr marT="45725" marB="45725" marR="91450" marL="91450">
                    <a:lnL cap="flat" cmpd="sng" w="8650">
                      <a:solidFill>
                        <a:schemeClr val="lt1"/>
                      </a:solidFill>
                      <a:prstDash val="solid"/>
                      <a:round/>
                      <a:headEnd len="sm" w="sm" type="none"/>
                      <a:tailEnd len="sm" w="sm" type="none"/>
                    </a:lnL>
                    <a:lnR cap="flat" cmpd="sng" w="8650">
                      <a:solidFill>
                        <a:schemeClr val="lt1"/>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chemeClr val="lt1"/>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lang="en" sz="1800">
                          <a:solidFill>
                            <a:schemeClr val="lt1"/>
                          </a:solidFill>
                          <a:latin typeface="Roboto"/>
                          <a:ea typeface="Roboto"/>
                          <a:cs typeface="Roboto"/>
                          <a:sym typeface="Roboto"/>
                        </a:rPr>
                        <a:t>Post PHQ-9 Score Range </a:t>
                      </a:r>
                      <a:endParaRPr sz="1800">
                        <a:solidFill>
                          <a:schemeClr val="lt1"/>
                        </a:solidFill>
                        <a:latin typeface="Roboto"/>
                        <a:ea typeface="Roboto"/>
                        <a:cs typeface="Roboto"/>
                        <a:sym typeface="Roboto"/>
                      </a:endParaRPr>
                    </a:p>
                  </a:txBody>
                  <a:tcPr marT="45725" marB="45725" marR="91450" marL="91450">
                    <a:lnL cap="flat" cmpd="sng" w="8650">
                      <a:solidFill>
                        <a:schemeClr val="lt1"/>
                      </a:solidFill>
                      <a:prstDash val="solid"/>
                      <a:round/>
                      <a:headEnd len="sm" w="sm" type="none"/>
                      <a:tailEnd len="sm" w="sm" type="none"/>
                    </a:lnL>
                    <a:lnR cap="flat" cmpd="sng" w="8650">
                      <a:solidFill>
                        <a:schemeClr val="lt1"/>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chemeClr val="lt1"/>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lang="en" sz="1800">
                          <a:solidFill>
                            <a:schemeClr val="lt1"/>
                          </a:solidFill>
                          <a:latin typeface="Roboto"/>
                          <a:ea typeface="Roboto"/>
                          <a:cs typeface="Roboto"/>
                          <a:sym typeface="Roboto"/>
                        </a:rPr>
                        <a:t>Mean PHQ-9 Difference</a:t>
                      </a:r>
                      <a:endParaRPr sz="1800">
                        <a:solidFill>
                          <a:schemeClr val="lt1"/>
                        </a:solidFill>
                        <a:latin typeface="Roboto"/>
                        <a:ea typeface="Roboto"/>
                        <a:cs typeface="Roboto"/>
                        <a:sym typeface="Roboto"/>
                      </a:endParaRPr>
                    </a:p>
                  </a:txBody>
                  <a:tcPr marT="45725" marB="45725" marR="91450" marL="91450">
                    <a:lnL cap="flat" cmpd="sng" w="8650">
                      <a:solidFill>
                        <a:schemeClr val="lt1"/>
                      </a:solidFill>
                      <a:prstDash val="solid"/>
                      <a:round/>
                      <a:headEnd len="sm" w="sm" type="none"/>
                      <a:tailEnd len="sm" w="sm" type="none"/>
                    </a:lnL>
                    <a:lnR cap="flat" cmpd="sng" w="8650">
                      <a:solidFill>
                        <a:schemeClr val="lt1"/>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chemeClr val="lt1"/>
                      </a:solidFill>
                      <a:prstDash val="solid"/>
                      <a:round/>
                      <a:headEnd len="sm" w="sm" type="none"/>
                      <a:tailEnd len="sm" w="sm" type="none"/>
                    </a:lnB>
                    <a:solidFill>
                      <a:srgbClr val="980000"/>
                    </a:solidFill>
                  </a:tcPr>
                </a:tc>
              </a:tr>
              <a:tr h="675100">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12 Students</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4 Students</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Increased</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Decreased </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0-11 </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3-15</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3-21  </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1-12 </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800">
                          <a:latin typeface="Roboto"/>
                          <a:ea typeface="Roboto"/>
                          <a:cs typeface="Roboto"/>
                          <a:sym typeface="Roboto"/>
                        </a:rPr>
                        <a:t>+3.69</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-3.50 </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chemeClr val="lt1"/>
                      </a:solidFill>
                      <a:prstDash val="solid"/>
                      <a:round/>
                      <a:headEnd len="sm" w="sm" type="none"/>
                      <a:tailEnd len="sm" w="sm" type="none"/>
                    </a:lnT>
                    <a:lnB cap="flat" cmpd="sng" w="8650">
                      <a:solidFill>
                        <a:srgbClr val="000000"/>
                      </a:solidFill>
                      <a:prstDash val="solid"/>
                      <a:round/>
                      <a:headEnd len="sm" w="sm" type="none"/>
                      <a:tailEnd len="sm" w="sm" type="none"/>
                    </a:lnB>
                  </a:tcPr>
                </a:tc>
              </a:tr>
            </a:tbl>
          </a:graphicData>
        </a:graphic>
      </p:graphicFrame>
      <p:sp>
        <p:nvSpPr>
          <p:cNvPr id="163" name="Google Shape;163;p19"/>
          <p:cNvSpPr/>
          <p:nvPr/>
        </p:nvSpPr>
        <p:spPr>
          <a:xfrm>
            <a:off x="2938700" y="124975"/>
            <a:ext cx="3200400" cy="10515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rif"/>
                <a:ea typeface="Roboto Serif"/>
                <a:cs typeface="Roboto Serif"/>
                <a:sym typeface="Roboto Serif"/>
              </a:rPr>
              <a:t>16 s</a:t>
            </a:r>
            <a:r>
              <a:rPr lang="en" sz="1800">
                <a:solidFill>
                  <a:schemeClr val="lt1"/>
                </a:solidFill>
                <a:latin typeface="Roboto Serif"/>
                <a:ea typeface="Roboto Serif"/>
                <a:cs typeface="Roboto Serif"/>
                <a:sym typeface="Roboto Serif"/>
              </a:rPr>
              <a:t>tudents of cluster 1 with </a:t>
            </a:r>
            <a:r>
              <a:rPr b="1" lang="en" sz="1800">
                <a:solidFill>
                  <a:schemeClr val="lt1"/>
                </a:solidFill>
                <a:latin typeface="Roboto Serif"/>
                <a:ea typeface="Roboto Serif"/>
                <a:cs typeface="Roboto Serif"/>
                <a:sym typeface="Roboto Serif"/>
              </a:rPr>
              <a:t>high neuroticism​</a:t>
            </a:r>
            <a:endParaRPr b="1" sz="1800">
              <a:solidFill>
                <a:schemeClr val="lt1"/>
              </a:solidFill>
              <a:latin typeface="Roboto Serif"/>
              <a:ea typeface="Roboto Serif"/>
              <a:cs typeface="Roboto Serif"/>
              <a:sym typeface="Roboto Serif"/>
            </a:endParaRPr>
          </a:p>
        </p:txBody>
      </p:sp>
      <p:sp>
        <p:nvSpPr>
          <p:cNvPr id="164" name="Google Shape;164;p19"/>
          <p:cNvSpPr/>
          <p:nvPr/>
        </p:nvSpPr>
        <p:spPr>
          <a:xfrm>
            <a:off x="975350" y="1504038"/>
            <a:ext cx="3200400" cy="10515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rif"/>
                <a:ea typeface="Roboto Serif"/>
                <a:cs typeface="Roboto Serif"/>
                <a:sym typeface="Roboto Serif"/>
              </a:rPr>
              <a:t>12 students with increased depression with </a:t>
            </a:r>
            <a:r>
              <a:rPr b="1" lang="en" sz="1800">
                <a:solidFill>
                  <a:schemeClr val="lt1"/>
                </a:solidFill>
                <a:latin typeface="Roboto Serif"/>
                <a:ea typeface="Roboto Serif"/>
                <a:cs typeface="Roboto Serif"/>
                <a:sym typeface="Roboto Serif"/>
              </a:rPr>
              <a:t>high neuroticism​</a:t>
            </a:r>
            <a:endParaRPr b="1" sz="1800">
              <a:solidFill>
                <a:schemeClr val="lt1"/>
              </a:solidFill>
              <a:latin typeface="Roboto Serif"/>
              <a:ea typeface="Roboto Serif"/>
              <a:cs typeface="Roboto Serif"/>
              <a:sym typeface="Roboto Serif"/>
            </a:endParaRPr>
          </a:p>
        </p:txBody>
      </p:sp>
      <p:sp>
        <p:nvSpPr>
          <p:cNvPr id="165" name="Google Shape;165;p19"/>
          <p:cNvSpPr/>
          <p:nvPr/>
        </p:nvSpPr>
        <p:spPr>
          <a:xfrm>
            <a:off x="4861550" y="1504038"/>
            <a:ext cx="3200400" cy="10515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Serif"/>
                <a:ea typeface="Roboto Serif"/>
                <a:cs typeface="Roboto Serif"/>
                <a:sym typeface="Roboto Serif"/>
              </a:rPr>
              <a:t>4 </a:t>
            </a:r>
            <a:r>
              <a:rPr lang="en" sz="1800">
                <a:solidFill>
                  <a:schemeClr val="lt1"/>
                </a:solidFill>
                <a:latin typeface="Roboto Serif"/>
                <a:ea typeface="Roboto Serif"/>
                <a:cs typeface="Roboto Serif"/>
                <a:sym typeface="Roboto Serif"/>
              </a:rPr>
              <a:t> students with decreased depression with </a:t>
            </a:r>
            <a:r>
              <a:rPr b="1" lang="en" sz="1800">
                <a:solidFill>
                  <a:schemeClr val="lt1"/>
                </a:solidFill>
                <a:latin typeface="Roboto Serif"/>
                <a:ea typeface="Roboto Serif"/>
                <a:cs typeface="Roboto Serif"/>
                <a:sym typeface="Roboto Serif"/>
              </a:rPr>
              <a:t>high neuroticism​</a:t>
            </a:r>
            <a:endParaRPr b="1" sz="1800">
              <a:solidFill>
                <a:schemeClr val="lt1"/>
              </a:solidFill>
              <a:latin typeface="Roboto Serif"/>
              <a:ea typeface="Roboto Serif"/>
              <a:cs typeface="Roboto Serif"/>
              <a:sym typeface="Roboto Serif"/>
            </a:endParaRPr>
          </a:p>
        </p:txBody>
      </p:sp>
      <p:sp>
        <p:nvSpPr>
          <p:cNvPr id="166" name="Google Shape;166;p19"/>
          <p:cNvSpPr/>
          <p:nvPr/>
        </p:nvSpPr>
        <p:spPr>
          <a:xfrm rot="10800000">
            <a:off x="3218700" y="1186502"/>
            <a:ext cx="312600" cy="319200"/>
          </a:xfrm>
          <a:prstGeom prst="upArrow">
            <a:avLst>
              <a:gd fmla="val 50000" name="adj1"/>
              <a:gd fmla="val 50000" name="adj2"/>
            </a:avLst>
          </a:prstGeom>
          <a:solidFill>
            <a:srgbClr val="E066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67" name="Google Shape;167;p19"/>
          <p:cNvSpPr/>
          <p:nvPr/>
        </p:nvSpPr>
        <p:spPr>
          <a:xfrm rot="10800000">
            <a:off x="4361450" y="1174882"/>
            <a:ext cx="300600" cy="1882200"/>
          </a:xfrm>
          <a:prstGeom prst="upArrow">
            <a:avLst>
              <a:gd fmla="val 50000" name="adj1"/>
              <a:gd fmla="val 50000" name="adj2"/>
            </a:avLst>
          </a:prstGeom>
          <a:solidFill>
            <a:srgbClr val="E066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68" name="Google Shape;168;p19"/>
          <p:cNvSpPr/>
          <p:nvPr/>
        </p:nvSpPr>
        <p:spPr>
          <a:xfrm rot="10800000">
            <a:off x="5462350" y="1186502"/>
            <a:ext cx="312600" cy="319200"/>
          </a:xfrm>
          <a:prstGeom prst="upArrow">
            <a:avLst>
              <a:gd fmla="val 50000" name="adj1"/>
              <a:gd fmla="val 50000" name="adj2"/>
            </a:avLst>
          </a:prstGeom>
          <a:solidFill>
            <a:srgbClr val="E066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cxnSp>
        <p:nvCxnSpPr>
          <p:cNvPr id="173" name="Google Shape;173;p20"/>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174" name="Google Shape;174;p20"/>
          <p:cNvSpPr txBox="1"/>
          <p:nvPr/>
        </p:nvSpPr>
        <p:spPr>
          <a:xfrm flipH="1" rot="-5400000">
            <a:off x="-1284150" y="1639425"/>
            <a:ext cx="3671700" cy="10578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800">
                <a:latin typeface="Roboto Serif"/>
                <a:ea typeface="Roboto Serif"/>
                <a:cs typeface="Roboto Serif"/>
                <a:sym typeface="Roboto Serif"/>
              </a:rPr>
              <a:t>Number of Social Contacts</a:t>
            </a:r>
            <a:endParaRPr sz="1800">
              <a:latin typeface="Roboto Serif"/>
              <a:ea typeface="Roboto Serif"/>
              <a:cs typeface="Roboto Serif"/>
              <a:sym typeface="Roboto Serif"/>
            </a:endParaRPr>
          </a:p>
        </p:txBody>
      </p:sp>
      <p:sp>
        <p:nvSpPr>
          <p:cNvPr id="175" name="Google Shape;175;p20"/>
          <p:cNvSpPr txBox="1"/>
          <p:nvPr/>
        </p:nvSpPr>
        <p:spPr>
          <a:xfrm flipH="1">
            <a:off x="3428926" y="4383975"/>
            <a:ext cx="2458500" cy="47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Serif"/>
                <a:ea typeface="Roboto Serif"/>
                <a:cs typeface="Roboto Serif"/>
                <a:sym typeface="Roboto Serif"/>
              </a:rPr>
              <a:t>Number of Days</a:t>
            </a:r>
            <a:endParaRPr sz="1800">
              <a:latin typeface="Roboto Serif"/>
              <a:ea typeface="Roboto Serif"/>
              <a:cs typeface="Roboto Serif"/>
              <a:sym typeface="Roboto Serif"/>
            </a:endParaRPr>
          </a:p>
        </p:txBody>
      </p:sp>
      <p:pic>
        <p:nvPicPr>
          <p:cNvPr id="176" name="Google Shape;176;p20"/>
          <p:cNvPicPr preferRelativeResize="0"/>
          <p:nvPr/>
        </p:nvPicPr>
        <p:blipFill rotWithShape="1">
          <a:blip r:embed="rId3">
            <a:alphaModFix/>
          </a:blip>
          <a:srcRect b="-4229" l="3282" r="7757" t="4230"/>
          <a:stretch/>
        </p:blipFill>
        <p:spPr>
          <a:xfrm>
            <a:off x="1004400" y="506550"/>
            <a:ext cx="6172200" cy="4153724"/>
          </a:xfrm>
          <a:prstGeom prst="rect">
            <a:avLst/>
          </a:prstGeom>
          <a:noFill/>
          <a:ln>
            <a:noFill/>
          </a:ln>
        </p:spPr>
      </p:pic>
      <p:sp>
        <p:nvSpPr>
          <p:cNvPr id="177" name="Google Shape;177;p20"/>
          <p:cNvSpPr txBox="1"/>
          <p:nvPr/>
        </p:nvSpPr>
        <p:spPr>
          <a:xfrm>
            <a:off x="820275" y="332475"/>
            <a:ext cx="7929000" cy="4051500"/>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p:txBody>
      </p:sp>
      <p:sp>
        <p:nvSpPr>
          <p:cNvPr id="178" name="Google Shape;178;p20"/>
          <p:cNvSpPr txBox="1"/>
          <p:nvPr/>
        </p:nvSpPr>
        <p:spPr>
          <a:xfrm>
            <a:off x="6591025" y="506550"/>
            <a:ext cx="2030400" cy="2055000"/>
          </a:xfrm>
          <a:prstGeom prst="rect">
            <a:avLst/>
          </a:prstGeom>
          <a:noFill/>
          <a:ln cap="flat" cmpd="sng" w="38100">
            <a:solidFill>
              <a:srgbClr val="98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800">
                <a:latin typeface="Roboto Serif"/>
                <a:ea typeface="Roboto Serif"/>
                <a:cs typeface="Roboto Serif"/>
                <a:sym typeface="Roboto Serif"/>
              </a:rPr>
              <a:t>Significant social contact fluctuations, peaking during midterm and final exams</a:t>
            </a:r>
            <a:endParaRPr sz="1800">
              <a:latin typeface="Roboto Serif"/>
              <a:ea typeface="Roboto Serif"/>
              <a:cs typeface="Roboto Serif"/>
              <a:sym typeface="Roboto Serif"/>
            </a:endParaRPr>
          </a:p>
        </p:txBody>
      </p:sp>
      <p:cxnSp>
        <p:nvCxnSpPr>
          <p:cNvPr id="179" name="Google Shape;179;p20"/>
          <p:cNvCxnSpPr>
            <a:endCxn id="178" idx="1"/>
          </p:cNvCxnSpPr>
          <p:nvPr/>
        </p:nvCxnSpPr>
        <p:spPr>
          <a:xfrm flipH="1" rot="10800000">
            <a:off x="6068725" y="1534050"/>
            <a:ext cx="522300" cy="365100"/>
          </a:xfrm>
          <a:prstGeom prst="straightConnector1">
            <a:avLst/>
          </a:prstGeom>
          <a:noFill/>
          <a:ln cap="flat" cmpd="sng" w="38100">
            <a:solidFill>
              <a:srgbClr val="980000"/>
            </a:solidFill>
            <a:prstDash val="solid"/>
            <a:round/>
            <a:headEnd len="med" w="med" type="none"/>
            <a:tailEnd len="med" w="med" type="triangle"/>
          </a:ln>
        </p:spPr>
      </p:cxnSp>
      <p:sp>
        <p:nvSpPr>
          <p:cNvPr id="180" name="Google Shape;180;p20"/>
          <p:cNvSpPr/>
          <p:nvPr/>
        </p:nvSpPr>
        <p:spPr>
          <a:xfrm>
            <a:off x="944025" y="462000"/>
            <a:ext cx="464700" cy="180900"/>
          </a:xfrm>
          <a:prstGeom prst="rect">
            <a:avLst/>
          </a:prstGeom>
          <a:solidFill>
            <a:srgbClr val="00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1" name="Google Shape;181;p20"/>
          <p:cNvSpPr txBox="1"/>
          <p:nvPr/>
        </p:nvSpPr>
        <p:spPr>
          <a:xfrm>
            <a:off x="295275" y="408675"/>
            <a:ext cx="45234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rgbClr val="262626"/>
                </a:solidFill>
                <a:latin typeface="Roboto Serif"/>
                <a:ea typeface="Roboto Serif"/>
                <a:cs typeface="Roboto Serif"/>
                <a:sym typeface="Roboto Serif"/>
              </a:rPr>
              <a:t> </a:t>
            </a:r>
            <a:r>
              <a:rPr lang="en" sz="1200">
                <a:solidFill>
                  <a:srgbClr val="262626"/>
                </a:solidFill>
                <a:latin typeface="Roboto Serif"/>
                <a:ea typeface="Roboto Serif"/>
                <a:cs typeface="Roboto Serif"/>
                <a:sym typeface="Roboto Serif"/>
              </a:rPr>
              <a:t>Cluster 1 with      depression</a:t>
            </a:r>
            <a:endParaRPr sz="1200">
              <a:solidFill>
                <a:srgbClr val="262626"/>
              </a:solidFill>
              <a:latin typeface="Roboto Serif"/>
              <a:ea typeface="Roboto Serif"/>
              <a:cs typeface="Roboto Serif"/>
              <a:sym typeface="Roboto Serif"/>
            </a:endParaRPr>
          </a:p>
          <a:p>
            <a:pPr indent="0" lvl="0" marL="0" rtl="0" algn="l">
              <a:spcBef>
                <a:spcPts val="0"/>
              </a:spcBef>
              <a:spcAft>
                <a:spcPts val="0"/>
              </a:spcAft>
              <a:buNone/>
            </a:pPr>
            <a:r>
              <a:t/>
            </a:r>
            <a:endParaRPr sz="1200">
              <a:latin typeface="Roboto Serif"/>
              <a:ea typeface="Roboto Serif"/>
              <a:cs typeface="Roboto Serif"/>
              <a:sym typeface="Roboto Serif"/>
            </a:endParaRPr>
          </a:p>
        </p:txBody>
      </p:sp>
      <p:sp>
        <p:nvSpPr>
          <p:cNvPr id="182" name="Google Shape;182;p20"/>
          <p:cNvSpPr txBox="1"/>
          <p:nvPr/>
        </p:nvSpPr>
        <p:spPr>
          <a:xfrm>
            <a:off x="219075" y="687000"/>
            <a:ext cx="46590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rgbClr val="262626"/>
                </a:solidFill>
                <a:latin typeface="Roboto Serif"/>
                <a:ea typeface="Roboto Serif"/>
                <a:cs typeface="Roboto Serif"/>
                <a:sym typeface="Roboto Serif"/>
              </a:rPr>
              <a:t> </a:t>
            </a:r>
            <a:r>
              <a:rPr lang="en" sz="1200">
                <a:solidFill>
                  <a:srgbClr val="262626"/>
                </a:solidFill>
                <a:latin typeface="Roboto Serif"/>
                <a:ea typeface="Roboto Serif"/>
                <a:cs typeface="Roboto Serif"/>
                <a:sym typeface="Roboto Serif"/>
              </a:rPr>
              <a:t>Cluster 2 with      depression</a:t>
            </a:r>
            <a:endParaRPr sz="1200">
              <a:solidFill>
                <a:srgbClr val="262626"/>
              </a:solidFill>
              <a:latin typeface="Roboto Serif"/>
              <a:ea typeface="Roboto Serif"/>
              <a:cs typeface="Roboto Serif"/>
              <a:sym typeface="Roboto Serif"/>
            </a:endParaRPr>
          </a:p>
          <a:p>
            <a:pPr indent="0" lvl="0" marL="0" rtl="0" algn="l">
              <a:spcBef>
                <a:spcPts val="0"/>
              </a:spcBef>
              <a:spcAft>
                <a:spcPts val="0"/>
              </a:spcAft>
              <a:buNone/>
            </a:pPr>
            <a:r>
              <a:t/>
            </a:r>
            <a:endParaRPr sz="1200">
              <a:latin typeface="Roboto Serif"/>
              <a:ea typeface="Roboto Serif"/>
              <a:cs typeface="Roboto Serif"/>
              <a:sym typeface="Roboto Serif"/>
            </a:endParaRPr>
          </a:p>
        </p:txBody>
      </p:sp>
      <p:sp>
        <p:nvSpPr>
          <p:cNvPr id="183" name="Google Shape;183;p20"/>
          <p:cNvSpPr txBox="1"/>
          <p:nvPr/>
        </p:nvSpPr>
        <p:spPr>
          <a:xfrm>
            <a:off x="304499" y="990375"/>
            <a:ext cx="4442100" cy="67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rgbClr val="262626"/>
                </a:solidFill>
                <a:latin typeface="Roboto Serif"/>
                <a:ea typeface="Roboto Serif"/>
                <a:cs typeface="Roboto Serif"/>
                <a:sym typeface="Roboto Serif"/>
              </a:rPr>
              <a:t>  </a:t>
            </a:r>
            <a:r>
              <a:rPr lang="en" sz="1200">
                <a:solidFill>
                  <a:srgbClr val="262626"/>
                </a:solidFill>
                <a:latin typeface="Roboto Serif"/>
                <a:ea typeface="Roboto Serif"/>
                <a:cs typeface="Roboto Serif"/>
                <a:sym typeface="Roboto Serif"/>
              </a:rPr>
              <a:t>Cluster 3 with</a:t>
            </a:r>
            <a:r>
              <a:rPr lang="en" sz="1200">
                <a:solidFill>
                  <a:srgbClr val="262626"/>
                </a:solidFill>
                <a:latin typeface="Roboto Serif"/>
                <a:ea typeface="Roboto Serif"/>
                <a:cs typeface="Roboto Serif"/>
                <a:sym typeface="Roboto Serif"/>
              </a:rPr>
              <a:t>     </a:t>
            </a:r>
            <a:r>
              <a:rPr lang="en" sz="1200">
                <a:solidFill>
                  <a:srgbClr val="262626"/>
                </a:solidFill>
                <a:latin typeface="Roboto Serif"/>
                <a:ea typeface="Roboto Serif"/>
                <a:cs typeface="Roboto Serif"/>
                <a:sym typeface="Roboto Serif"/>
              </a:rPr>
              <a:t> depression</a:t>
            </a:r>
            <a:endParaRPr sz="1200">
              <a:solidFill>
                <a:srgbClr val="262626"/>
              </a:solidFill>
              <a:latin typeface="Roboto Serif"/>
              <a:ea typeface="Roboto Serif"/>
              <a:cs typeface="Roboto Serif"/>
              <a:sym typeface="Roboto Serif"/>
            </a:endParaRPr>
          </a:p>
          <a:p>
            <a:pPr indent="0" lvl="0" marL="0" rtl="0" algn="l">
              <a:spcBef>
                <a:spcPts val="0"/>
              </a:spcBef>
              <a:spcAft>
                <a:spcPts val="0"/>
              </a:spcAft>
              <a:buNone/>
            </a:pPr>
            <a:r>
              <a:t/>
            </a:r>
            <a:endParaRPr sz="1800">
              <a:latin typeface="Roboto Serif"/>
              <a:ea typeface="Roboto Serif"/>
              <a:cs typeface="Roboto Serif"/>
              <a:sym typeface="Roboto Serif"/>
            </a:endParaRPr>
          </a:p>
        </p:txBody>
      </p:sp>
      <p:sp>
        <p:nvSpPr>
          <p:cNvPr id="184" name="Google Shape;184;p20"/>
          <p:cNvSpPr/>
          <p:nvPr/>
        </p:nvSpPr>
        <p:spPr>
          <a:xfrm>
            <a:off x="2588500" y="449700"/>
            <a:ext cx="131400" cy="180900"/>
          </a:xfrm>
          <a:prstGeom prst="up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5" name="Google Shape;185;p20"/>
          <p:cNvSpPr/>
          <p:nvPr/>
        </p:nvSpPr>
        <p:spPr>
          <a:xfrm>
            <a:off x="2598125" y="760350"/>
            <a:ext cx="131400" cy="180900"/>
          </a:xfrm>
          <a:prstGeom prst="up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6" name="Google Shape;186;p20"/>
          <p:cNvSpPr/>
          <p:nvPr/>
        </p:nvSpPr>
        <p:spPr>
          <a:xfrm>
            <a:off x="2588500" y="1109575"/>
            <a:ext cx="131400" cy="180900"/>
          </a:xfrm>
          <a:prstGeom prst="up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7" name="Google Shape;187;p20"/>
          <p:cNvSpPr/>
          <p:nvPr/>
        </p:nvSpPr>
        <p:spPr>
          <a:xfrm>
            <a:off x="944025" y="764850"/>
            <a:ext cx="464700" cy="180900"/>
          </a:xfrm>
          <a:prstGeom prst="rect">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8" name="Google Shape;188;p20"/>
          <p:cNvSpPr/>
          <p:nvPr/>
        </p:nvSpPr>
        <p:spPr>
          <a:xfrm>
            <a:off x="944025" y="1067700"/>
            <a:ext cx="464700" cy="180900"/>
          </a:xfrm>
          <a:prstGeom prst="rect">
            <a:avLst/>
          </a:prstGeom>
          <a:solidFill>
            <a:srgbClr val="98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nvSpPr>
        <p:spPr>
          <a:xfrm flipH="1" rot="-5400000">
            <a:off x="-1126625" y="1976525"/>
            <a:ext cx="3356700" cy="6096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800">
                <a:latin typeface="Roboto Serif"/>
                <a:ea typeface="Roboto Serif"/>
                <a:cs typeface="Roboto Serif"/>
                <a:sym typeface="Roboto Serif"/>
              </a:rPr>
              <a:t>Number of Social Contacts</a:t>
            </a:r>
            <a:endParaRPr sz="1800">
              <a:latin typeface="Roboto Serif"/>
              <a:ea typeface="Roboto Serif"/>
              <a:cs typeface="Roboto Serif"/>
              <a:sym typeface="Roboto Serif"/>
            </a:endParaRPr>
          </a:p>
        </p:txBody>
      </p:sp>
      <p:sp>
        <p:nvSpPr>
          <p:cNvPr id="194" name="Google Shape;194;p21"/>
          <p:cNvSpPr txBox="1"/>
          <p:nvPr/>
        </p:nvSpPr>
        <p:spPr>
          <a:xfrm flipH="1" rot="416">
            <a:off x="3630725" y="4443055"/>
            <a:ext cx="2481300" cy="3294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800">
                <a:latin typeface="Roboto Serif"/>
                <a:ea typeface="Roboto Serif"/>
                <a:cs typeface="Roboto Serif"/>
                <a:sym typeface="Roboto Serif"/>
              </a:rPr>
              <a:t>Number of Days</a:t>
            </a:r>
            <a:endParaRPr sz="1800">
              <a:latin typeface="Roboto Serif"/>
              <a:ea typeface="Roboto Serif"/>
              <a:cs typeface="Roboto Serif"/>
              <a:sym typeface="Roboto Serif"/>
            </a:endParaRPr>
          </a:p>
        </p:txBody>
      </p:sp>
      <p:cxnSp>
        <p:nvCxnSpPr>
          <p:cNvPr id="195" name="Google Shape;195;p21"/>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pic>
        <p:nvPicPr>
          <p:cNvPr id="196" name="Google Shape;196;p21"/>
          <p:cNvPicPr preferRelativeResize="0"/>
          <p:nvPr/>
        </p:nvPicPr>
        <p:blipFill rotWithShape="1">
          <a:blip r:embed="rId3">
            <a:alphaModFix/>
          </a:blip>
          <a:srcRect b="3866" l="2578" r="2292" t="4717"/>
          <a:stretch/>
        </p:blipFill>
        <p:spPr>
          <a:xfrm>
            <a:off x="829275" y="536825"/>
            <a:ext cx="6206951" cy="3626974"/>
          </a:xfrm>
          <a:prstGeom prst="rect">
            <a:avLst/>
          </a:prstGeom>
          <a:noFill/>
          <a:ln>
            <a:noFill/>
          </a:ln>
        </p:spPr>
      </p:pic>
      <p:sp>
        <p:nvSpPr>
          <p:cNvPr id="197" name="Google Shape;197;p21"/>
          <p:cNvSpPr txBox="1"/>
          <p:nvPr/>
        </p:nvSpPr>
        <p:spPr>
          <a:xfrm>
            <a:off x="820275" y="332475"/>
            <a:ext cx="7929000" cy="4051500"/>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p:txBody>
      </p:sp>
      <p:sp>
        <p:nvSpPr>
          <p:cNvPr id="198" name="Google Shape;198;p21"/>
          <p:cNvSpPr txBox="1"/>
          <p:nvPr/>
        </p:nvSpPr>
        <p:spPr>
          <a:xfrm>
            <a:off x="6297575" y="1454250"/>
            <a:ext cx="2303400" cy="2373600"/>
          </a:xfrm>
          <a:prstGeom prst="rect">
            <a:avLst/>
          </a:prstGeom>
          <a:noFill/>
          <a:ln cap="flat" cmpd="sng" w="38100">
            <a:solidFill>
              <a:srgbClr val="98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800">
                <a:latin typeface="Roboto Serif"/>
                <a:ea typeface="Roboto Serif"/>
                <a:cs typeface="Roboto Serif"/>
                <a:sym typeface="Roboto Serif"/>
              </a:rPr>
              <a:t>Cluster 1 students with lower depression had fewer social contacts compared to higher depression</a:t>
            </a:r>
            <a:endParaRPr sz="1800">
              <a:latin typeface="Roboto Serif"/>
              <a:ea typeface="Roboto Serif"/>
              <a:cs typeface="Roboto Serif"/>
              <a:sym typeface="Roboto Serif"/>
            </a:endParaRPr>
          </a:p>
        </p:txBody>
      </p:sp>
      <p:sp>
        <p:nvSpPr>
          <p:cNvPr id="199" name="Google Shape;199;p21"/>
          <p:cNvSpPr txBox="1"/>
          <p:nvPr/>
        </p:nvSpPr>
        <p:spPr>
          <a:xfrm>
            <a:off x="-285450" y="1454250"/>
            <a:ext cx="46590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rgbClr val="262626"/>
                </a:solidFill>
                <a:latin typeface="Roboto Serif"/>
                <a:ea typeface="Roboto Serif"/>
                <a:cs typeface="Roboto Serif"/>
                <a:sym typeface="Roboto Serif"/>
              </a:rPr>
              <a:t> Cluster 1 with      depression</a:t>
            </a:r>
            <a:endParaRPr sz="1200">
              <a:solidFill>
                <a:srgbClr val="262626"/>
              </a:solidFill>
              <a:latin typeface="Roboto Serif"/>
              <a:ea typeface="Roboto Serif"/>
              <a:cs typeface="Roboto Serif"/>
              <a:sym typeface="Roboto Serif"/>
            </a:endParaRPr>
          </a:p>
          <a:p>
            <a:pPr indent="0" lvl="0" marL="0" rtl="0" algn="l">
              <a:spcBef>
                <a:spcPts val="0"/>
              </a:spcBef>
              <a:spcAft>
                <a:spcPts val="0"/>
              </a:spcAft>
              <a:buNone/>
            </a:pPr>
            <a:r>
              <a:t/>
            </a:r>
            <a:endParaRPr sz="1200">
              <a:latin typeface="Roboto Serif"/>
              <a:ea typeface="Roboto Serif"/>
              <a:cs typeface="Roboto Serif"/>
              <a:sym typeface="Roboto Serif"/>
            </a:endParaRPr>
          </a:p>
        </p:txBody>
      </p:sp>
      <p:sp>
        <p:nvSpPr>
          <p:cNvPr id="200" name="Google Shape;200;p21"/>
          <p:cNvSpPr/>
          <p:nvPr/>
        </p:nvSpPr>
        <p:spPr>
          <a:xfrm>
            <a:off x="2131300" y="1488875"/>
            <a:ext cx="131400" cy="180900"/>
          </a:xfrm>
          <a:prstGeom prst="up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01" name="Google Shape;201;p21"/>
          <p:cNvSpPr/>
          <p:nvPr/>
        </p:nvSpPr>
        <p:spPr>
          <a:xfrm rot="10800000">
            <a:off x="3045700" y="3927275"/>
            <a:ext cx="131400" cy="180900"/>
          </a:xfrm>
          <a:prstGeom prst="upArrow">
            <a:avLst>
              <a:gd fmla="val 50000" name="adj1"/>
              <a:gd fmla="val 50000" name="adj2"/>
            </a:avLst>
          </a:prstGeom>
          <a:solidFill>
            <a:srgbClr val="6AA84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roxima Nova"/>
              <a:ea typeface="Proxima Nova"/>
              <a:cs typeface="Proxima Nova"/>
              <a:sym typeface="Proxima Nova"/>
            </a:endParaRPr>
          </a:p>
        </p:txBody>
      </p:sp>
      <p:sp>
        <p:nvSpPr>
          <p:cNvPr id="202" name="Google Shape;202;p21"/>
          <p:cNvSpPr txBox="1"/>
          <p:nvPr/>
        </p:nvSpPr>
        <p:spPr>
          <a:xfrm>
            <a:off x="636225" y="3827850"/>
            <a:ext cx="46590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rgbClr val="262626"/>
                </a:solidFill>
                <a:latin typeface="Roboto Serif"/>
                <a:ea typeface="Roboto Serif"/>
                <a:cs typeface="Roboto Serif"/>
                <a:sym typeface="Roboto Serif"/>
              </a:rPr>
              <a:t> Cluster 1 with      depression</a:t>
            </a:r>
            <a:endParaRPr sz="1200">
              <a:solidFill>
                <a:srgbClr val="262626"/>
              </a:solidFill>
              <a:latin typeface="Roboto Serif"/>
              <a:ea typeface="Roboto Serif"/>
              <a:cs typeface="Roboto Serif"/>
              <a:sym typeface="Roboto Serif"/>
            </a:endParaRPr>
          </a:p>
          <a:p>
            <a:pPr indent="0" lvl="0" marL="0" rtl="0" algn="l">
              <a:spcBef>
                <a:spcPts val="0"/>
              </a:spcBef>
              <a:spcAft>
                <a:spcPts val="0"/>
              </a:spcAft>
              <a:buNone/>
            </a:pPr>
            <a:r>
              <a:t/>
            </a:r>
            <a:endParaRPr sz="1200">
              <a:latin typeface="Roboto Serif"/>
              <a:ea typeface="Roboto Serif"/>
              <a:cs typeface="Roboto Serif"/>
              <a:sym typeface="Roboto Serif"/>
            </a:endParaRPr>
          </a:p>
        </p:txBody>
      </p:sp>
      <p:cxnSp>
        <p:nvCxnSpPr>
          <p:cNvPr id="203" name="Google Shape;203;p21"/>
          <p:cNvCxnSpPr/>
          <p:nvPr/>
        </p:nvCxnSpPr>
        <p:spPr>
          <a:xfrm flipH="1" rot="10800000">
            <a:off x="5241350" y="2448575"/>
            <a:ext cx="816300" cy="298200"/>
          </a:xfrm>
          <a:prstGeom prst="straightConnector1">
            <a:avLst/>
          </a:prstGeom>
          <a:noFill/>
          <a:ln cap="flat" cmpd="sng" w="38100">
            <a:solidFill>
              <a:srgbClr val="98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cxnSp>
        <p:nvCxnSpPr>
          <p:cNvPr id="208" name="Google Shape;208;p22"/>
          <p:cNvCxnSpPr/>
          <p:nvPr/>
        </p:nvCxnSpPr>
        <p:spPr>
          <a:xfrm>
            <a:off x="-1500" y="5067300"/>
            <a:ext cx="9147000" cy="0"/>
          </a:xfrm>
          <a:prstGeom prst="straightConnector1">
            <a:avLst/>
          </a:prstGeom>
          <a:noFill/>
          <a:ln cap="flat" cmpd="sng" w="114300">
            <a:solidFill>
              <a:srgbClr val="E06666"/>
            </a:solidFill>
            <a:prstDash val="solid"/>
            <a:round/>
            <a:headEnd len="med" w="med" type="none"/>
            <a:tailEnd len="med" w="med" type="none"/>
          </a:ln>
        </p:spPr>
      </p:cxnSp>
      <p:graphicFrame>
        <p:nvGraphicFramePr>
          <p:cNvPr id="209" name="Google Shape;209;p22"/>
          <p:cNvGraphicFramePr/>
          <p:nvPr/>
        </p:nvGraphicFramePr>
        <p:xfrm>
          <a:off x="4983450" y="834388"/>
          <a:ext cx="3000000" cy="3000000"/>
        </p:xfrm>
        <a:graphic>
          <a:graphicData uri="http://schemas.openxmlformats.org/drawingml/2006/table">
            <a:tbl>
              <a:tblPr>
                <a:noFill/>
                <a:tableStyleId>{C2EF4DE7-29CF-4C10-80EE-3FCB3BE84F87}</a:tableStyleId>
              </a:tblPr>
              <a:tblGrid>
                <a:gridCol w="1612775"/>
                <a:gridCol w="1347175"/>
                <a:gridCol w="1017700"/>
              </a:tblGrid>
              <a:tr h="767350">
                <a:tc>
                  <a:txBody>
                    <a:bodyPr/>
                    <a:lstStyle/>
                    <a:p>
                      <a:pPr indent="0" lvl="0" marL="0" rtl="0" algn="ctr">
                        <a:lnSpc>
                          <a:spcPct val="115000"/>
                        </a:lnSpc>
                        <a:spcBef>
                          <a:spcPts val="0"/>
                        </a:spcBef>
                        <a:spcAft>
                          <a:spcPts val="0"/>
                        </a:spcAft>
                        <a:buNone/>
                      </a:pPr>
                      <a:r>
                        <a:rPr b="1" lang="en" sz="1800">
                          <a:solidFill>
                            <a:schemeClr val="lt1"/>
                          </a:solidFill>
                          <a:latin typeface="Roboto"/>
                          <a:ea typeface="Roboto"/>
                          <a:cs typeface="Roboto"/>
                          <a:sym typeface="Roboto"/>
                        </a:rPr>
                        <a:t>Personality Trait</a:t>
                      </a:r>
                      <a:endParaRPr b="1" sz="1800">
                        <a:solidFill>
                          <a:schemeClr val="lt1"/>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b="1" lang="en" sz="1800">
                          <a:solidFill>
                            <a:schemeClr val="lt1"/>
                          </a:solidFill>
                          <a:latin typeface="Roboto"/>
                          <a:ea typeface="Roboto"/>
                          <a:cs typeface="Roboto"/>
                          <a:sym typeface="Roboto"/>
                        </a:rPr>
                        <a:t>Variance</a:t>
                      </a:r>
                      <a:endParaRPr b="1" sz="1800">
                        <a:solidFill>
                          <a:schemeClr val="lt1"/>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solidFill>
                      <a:srgbClr val="980000"/>
                    </a:solidFill>
                  </a:tcPr>
                </a:tc>
                <a:tc>
                  <a:txBody>
                    <a:bodyPr/>
                    <a:lstStyle/>
                    <a:p>
                      <a:pPr indent="0" lvl="0" marL="0" rtl="0" algn="ctr">
                        <a:lnSpc>
                          <a:spcPct val="115000"/>
                        </a:lnSpc>
                        <a:spcBef>
                          <a:spcPts val="0"/>
                        </a:spcBef>
                        <a:spcAft>
                          <a:spcPts val="0"/>
                        </a:spcAft>
                        <a:buNone/>
                      </a:pPr>
                      <a:r>
                        <a:rPr b="1" lang="en" sz="1800">
                          <a:solidFill>
                            <a:schemeClr val="lt1"/>
                          </a:solidFill>
                          <a:latin typeface="Roboto"/>
                          <a:ea typeface="Roboto"/>
                          <a:cs typeface="Roboto"/>
                          <a:sym typeface="Roboto"/>
                        </a:rPr>
                        <a:t>SD</a:t>
                      </a:r>
                      <a:endParaRPr b="1" sz="1800">
                        <a:solidFill>
                          <a:schemeClr val="lt1"/>
                        </a:solidFill>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solidFill>
                      <a:srgbClr val="980000"/>
                    </a:solidFill>
                  </a:tcPr>
                </a:tc>
              </a:tr>
              <a:tr h="2197025">
                <a:tc>
                  <a:txBody>
                    <a:bodyPr/>
                    <a:lstStyle/>
                    <a:p>
                      <a:pPr indent="0" lvl="0" marL="0" rtl="0" algn="ctr">
                        <a:lnSpc>
                          <a:spcPct val="115000"/>
                        </a:lnSpc>
                        <a:spcBef>
                          <a:spcPts val="0"/>
                        </a:spcBef>
                        <a:spcAft>
                          <a:spcPts val="0"/>
                        </a:spcAft>
                        <a:buNone/>
                      </a:pPr>
                      <a:r>
                        <a:rPr b="1" lang="en" sz="1800">
                          <a:solidFill>
                            <a:srgbClr val="980000"/>
                          </a:solidFill>
                          <a:latin typeface="Roboto"/>
                          <a:ea typeface="Roboto"/>
                          <a:cs typeface="Roboto"/>
                          <a:sym typeface="Roboto"/>
                        </a:rPr>
                        <a:t>Cluster 1 Students</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Cluster 2 Students</a:t>
                      </a:r>
                      <a:endParaRPr sz="1800">
                        <a:latin typeface="Roboto"/>
                        <a:ea typeface="Roboto"/>
                        <a:cs typeface="Roboto"/>
                        <a:sym typeface="Roboto"/>
                      </a:endParaRPr>
                    </a:p>
                    <a:p>
                      <a:pPr indent="0" lvl="0" marL="0" rtl="0" algn="ctr">
                        <a:lnSpc>
                          <a:spcPct val="115000"/>
                        </a:lnSpc>
                        <a:spcBef>
                          <a:spcPts val="0"/>
                        </a:spcBef>
                        <a:spcAft>
                          <a:spcPts val="0"/>
                        </a:spcAft>
                        <a:buNone/>
                      </a:pPr>
                      <a:r>
                        <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Cluster 3 Students</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solidFill>
                            <a:srgbClr val="980000"/>
                          </a:solidFill>
                          <a:latin typeface="Roboto"/>
                          <a:ea typeface="Roboto"/>
                          <a:cs typeface="Roboto"/>
                          <a:sym typeface="Roboto"/>
                        </a:rPr>
                        <a:t>0.685</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0.405</a:t>
                      </a:r>
                      <a:endParaRPr sz="1800">
                        <a:latin typeface="Roboto"/>
                        <a:ea typeface="Roboto"/>
                        <a:cs typeface="Roboto"/>
                        <a:sym typeface="Roboto"/>
                      </a:endParaRPr>
                    </a:p>
                    <a:p>
                      <a:pPr indent="0" lvl="0" marL="0" rtl="0" algn="l">
                        <a:lnSpc>
                          <a:spcPct val="115000"/>
                        </a:lnSpc>
                        <a:spcBef>
                          <a:spcPts val="0"/>
                        </a:spcBef>
                        <a:spcAft>
                          <a:spcPts val="0"/>
                        </a:spcAft>
                        <a:buNone/>
                      </a:pPr>
                      <a:r>
                        <a:t/>
                      </a:r>
                      <a:endParaRPr sz="1800">
                        <a:latin typeface="Roboto"/>
                        <a:ea typeface="Roboto"/>
                        <a:cs typeface="Roboto"/>
                        <a:sym typeface="Roboto"/>
                      </a:endParaRPr>
                    </a:p>
                    <a:p>
                      <a:pPr indent="0" lvl="0" marL="0" rtl="0" algn="l">
                        <a:lnSpc>
                          <a:spcPct val="115000"/>
                        </a:lnSpc>
                        <a:spcBef>
                          <a:spcPts val="0"/>
                        </a:spcBef>
                        <a:spcAft>
                          <a:spcPts val="0"/>
                        </a:spcAft>
                        <a:buNone/>
                      </a:pPr>
                      <a:r>
                        <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0.441</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solidFill>
                            <a:srgbClr val="980000"/>
                          </a:solidFill>
                          <a:latin typeface="Roboto"/>
                          <a:ea typeface="Roboto"/>
                          <a:cs typeface="Roboto"/>
                          <a:sym typeface="Roboto"/>
                        </a:rPr>
                        <a:t>0.828</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t/>
                      </a:r>
                      <a:endParaRPr b="1" sz="1800">
                        <a:solidFill>
                          <a:srgbClr val="980000"/>
                        </a:solidFill>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0.63</a:t>
                      </a:r>
                      <a:r>
                        <a:rPr lang="en" sz="1800">
                          <a:latin typeface="Roboto"/>
                          <a:ea typeface="Roboto"/>
                          <a:cs typeface="Roboto"/>
                          <a:sym typeface="Roboto"/>
                        </a:rPr>
                        <a:t>6</a:t>
                      </a:r>
                      <a:endParaRPr sz="1800">
                        <a:latin typeface="Roboto"/>
                        <a:ea typeface="Roboto"/>
                        <a:cs typeface="Roboto"/>
                        <a:sym typeface="Roboto"/>
                      </a:endParaRPr>
                    </a:p>
                    <a:p>
                      <a:pPr indent="0" lvl="0" marL="0" rtl="0" algn="l">
                        <a:lnSpc>
                          <a:spcPct val="115000"/>
                        </a:lnSpc>
                        <a:spcBef>
                          <a:spcPts val="0"/>
                        </a:spcBef>
                        <a:spcAft>
                          <a:spcPts val="0"/>
                        </a:spcAft>
                        <a:buNone/>
                      </a:pPr>
                      <a:r>
                        <a:t/>
                      </a:r>
                      <a:endParaRPr sz="1800">
                        <a:latin typeface="Roboto"/>
                        <a:ea typeface="Roboto"/>
                        <a:cs typeface="Roboto"/>
                        <a:sym typeface="Roboto"/>
                      </a:endParaRPr>
                    </a:p>
                    <a:p>
                      <a:pPr indent="0" lvl="0" marL="0" rtl="0" algn="ctr">
                        <a:lnSpc>
                          <a:spcPct val="115000"/>
                        </a:lnSpc>
                        <a:spcBef>
                          <a:spcPts val="0"/>
                        </a:spcBef>
                        <a:spcAft>
                          <a:spcPts val="0"/>
                        </a:spcAft>
                        <a:buNone/>
                      </a:pPr>
                      <a:r>
                        <a:t/>
                      </a:r>
                      <a:endParaRPr sz="1800">
                        <a:latin typeface="Roboto"/>
                        <a:ea typeface="Roboto"/>
                        <a:cs typeface="Roboto"/>
                        <a:sym typeface="Roboto"/>
                      </a:endParaRPr>
                    </a:p>
                    <a:p>
                      <a:pPr indent="0" lvl="0" marL="0" rtl="0" algn="ctr">
                        <a:lnSpc>
                          <a:spcPct val="115000"/>
                        </a:lnSpc>
                        <a:spcBef>
                          <a:spcPts val="0"/>
                        </a:spcBef>
                        <a:spcAft>
                          <a:spcPts val="0"/>
                        </a:spcAft>
                        <a:buNone/>
                      </a:pPr>
                      <a:r>
                        <a:rPr lang="en" sz="1800">
                          <a:latin typeface="Roboto"/>
                          <a:ea typeface="Roboto"/>
                          <a:cs typeface="Roboto"/>
                          <a:sym typeface="Roboto"/>
                        </a:rPr>
                        <a:t>0.664</a:t>
                      </a:r>
                      <a:endParaRPr sz="1800">
                        <a:latin typeface="Roboto"/>
                        <a:ea typeface="Roboto"/>
                        <a:cs typeface="Roboto"/>
                        <a:sym typeface="Roboto"/>
                      </a:endParaRPr>
                    </a:p>
                  </a:txBody>
                  <a:tcPr marT="45725" marB="45725" marR="91450" marL="91450">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bl>
          </a:graphicData>
        </a:graphic>
      </p:graphicFrame>
      <p:sp>
        <p:nvSpPr>
          <p:cNvPr id="210" name="Google Shape;210;p22"/>
          <p:cNvSpPr txBox="1"/>
          <p:nvPr/>
        </p:nvSpPr>
        <p:spPr>
          <a:xfrm flipH="1" rot="-5400000">
            <a:off x="-1671650" y="2004025"/>
            <a:ext cx="3758700" cy="6096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800">
                <a:latin typeface="Roboto Serif"/>
                <a:ea typeface="Roboto Serif"/>
                <a:cs typeface="Roboto Serif"/>
                <a:sym typeface="Roboto Serif"/>
              </a:rPr>
              <a:t>Number of Social Contacts</a:t>
            </a:r>
            <a:endParaRPr sz="1800">
              <a:latin typeface="Roboto Serif"/>
              <a:ea typeface="Roboto Serif"/>
              <a:cs typeface="Roboto Serif"/>
              <a:sym typeface="Roboto Serif"/>
            </a:endParaRPr>
          </a:p>
        </p:txBody>
      </p:sp>
      <p:sp>
        <p:nvSpPr>
          <p:cNvPr id="211" name="Google Shape;211;p22"/>
          <p:cNvSpPr txBox="1"/>
          <p:nvPr/>
        </p:nvSpPr>
        <p:spPr>
          <a:xfrm flipH="1" rot="197">
            <a:off x="512650" y="4387064"/>
            <a:ext cx="5240100" cy="3294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800">
                <a:latin typeface="Roboto Serif"/>
                <a:ea typeface="Roboto Serif"/>
                <a:cs typeface="Roboto Serif"/>
                <a:sym typeface="Roboto Serif"/>
              </a:rPr>
              <a:t> Cluster 1	  Cluster 2 	   Cluster 3</a:t>
            </a:r>
            <a:endParaRPr sz="1800">
              <a:latin typeface="Roboto Serif"/>
              <a:ea typeface="Roboto Serif"/>
              <a:cs typeface="Roboto Serif"/>
              <a:sym typeface="Roboto Serif"/>
            </a:endParaRPr>
          </a:p>
        </p:txBody>
      </p:sp>
      <p:pic>
        <p:nvPicPr>
          <p:cNvPr id="212" name="Google Shape;212;p22"/>
          <p:cNvPicPr preferRelativeResize="0"/>
          <p:nvPr/>
        </p:nvPicPr>
        <p:blipFill>
          <a:blip r:embed="rId3">
            <a:alphaModFix/>
          </a:blip>
          <a:stretch>
            <a:fillRect/>
          </a:stretch>
        </p:blipFill>
        <p:spPr>
          <a:xfrm>
            <a:off x="368775" y="709625"/>
            <a:ext cx="4571999" cy="3657600"/>
          </a:xfrm>
          <a:prstGeom prst="rect">
            <a:avLst/>
          </a:prstGeom>
          <a:noFill/>
          <a:ln>
            <a:noFill/>
          </a:ln>
        </p:spPr>
      </p:pic>
      <p:sp>
        <p:nvSpPr>
          <p:cNvPr id="213" name="Google Shape;213;p22"/>
          <p:cNvSpPr txBox="1"/>
          <p:nvPr/>
        </p:nvSpPr>
        <p:spPr>
          <a:xfrm>
            <a:off x="1865075" y="921375"/>
            <a:ext cx="2821800" cy="1098900"/>
          </a:xfrm>
          <a:prstGeom prst="rect">
            <a:avLst/>
          </a:prstGeom>
          <a:noFill/>
          <a:ln cap="flat" cmpd="sng" w="38100">
            <a:solidFill>
              <a:srgbClr val="98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800">
                <a:latin typeface="Roboto Serif"/>
                <a:ea typeface="Roboto Serif"/>
                <a:cs typeface="Roboto Serif"/>
                <a:sym typeface="Roboto Serif"/>
              </a:rPr>
              <a:t>Highest variation and range in the number of social contacts</a:t>
            </a:r>
            <a:endParaRPr sz="1800">
              <a:latin typeface="Roboto Serif"/>
              <a:ea typeface="Roboto Serif"/>
              <a:cs typeface="Roboto Serif"/>
              <a:sym typeface="Roboto Serif"/>
            </a:endParaRPr>
          </a:p>
        </p:txBody>
      </p:sp>
      <p:cxnSp>
        <p:nvCxnSpPr>
          <p:cNvPr id="214" name="Google Shape;214;p22"/>
          <p:cNvCxnSpPr/>
          <p:nvPr/>
        </p:nvCxnSpPr>
        <p:spPr>
          <a:xfrm flipH="1" rot="10800000">
            <a:off x="1284450" y="1883775"/>
            <a:ext cx="522300" cy="365100"/>
          </a:xfrm>
          <a:prstGeom prst="straightConnector1">
            <a:avLst/>
          </a:prstGeom>
          <a:noFill/>
          <a:ln cap="flat" cmpd="sng" w="38100">
            <a:solidFill>
              <a:srgbClr val="980000"/>
            </a:solidFill>
            <a:prstDash val="solid"/>
            <a:round/>
            <a:headEnd len="med" w="med" type="none"/>
            <a:tailEnd len="med" w="med" type="triangle"/>
          </a:ln>
        </p:spPr>
      </p:cxnSp>
      <p:sp>
        <p:nvSpPr>
          <p:cNvPr id="215" name="Google Shape;215;p22"/>
          <p:cNvSpPr txBox="1"/>
          <p:nvPr/>
        </p:nvSpPr>
        <p:spPr>
          <a:xfrm flipH="1">
            <a:off x="741250" y="1458473"/>
            <a:ext cx="1717500" cy="3294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200">
                <a:solidFill>
                  <a:srgbClr val="0000FF"/>
                </a:solidFill>
                <a:latin typeface="Roboto Serif"/>
                <a:ea typeface="Roboto Serif"/>
                <a:cs typeface="Roboto Serif"/>
                <a:sym typeface="Roboto Serif"/>
              </a:rPr>
              <a:t>Range: 90</a:t>
            </a:r>
            <a:endParaRPr sz="1200">
              <a:solidFill>
                <a:srgbClr val="0000FF"/>
              </a:solidFill>
              <a:latin typeface="Roboto Serif"/>
              <a:ea typeface="Roboto Serif"/>
              <a:cs typeface="Roboto Serif"/>
              <a:sym typeface="Roboto Serif"/>
            </a:endParaRPr>
          </a:p>
        </p:txBody>
      </p:sp>
      <p:sp>
        <p:nvSpPr>
          <p:cNvPr id="216" name="Google Shape;216;p22"/>
          <p:cNvSpPr txBox="1"/>
          <p:nvPr/>
        </p:nvSpPr>
        <p:spPr>
          <a:xfrm flipH="1">
            <a:off x="2185875" y="2248875"/>
            <a:ext cx="1377300" cy="3294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200">
                <a:solidFill>
                  <a:srgbClr val="38761D"/>
                </a:solidFill>
                <a:latin typeface="Roboto Serif"/>
                <a:ea typeface="Roboto Serif"/>
                <a:cs typeface="Roboto Serif"/>
                <a:sym typeface="Roboto Serif"/>
              </a:rPr>
              <a:t>Range: 45</a:t>
            </a:r>
            <a:endParaRPr sz="1200">
              <a:solidFill>
                <a:srgbClr val="38761D"/>
              </a:solidFill>
              <a:latin typeface="Roboto Serif"/>
              <a:ea typeface="Roboto Serif"/>
              <a:cs typeface="Roboto Serif"/>
              <a:sym typeface="Roboto Serif"/>
            </a:endParaRPr>
          </a:p>
        </p:txBody>
      </p:sp>
      <p:sp>
        <p:nvSpPr>
          <p:cNvPr id="217" name="Google Shape;217;p22"/>
          <p:cNvSpPr txBox="1"/>
          <p:nvPr/>
        </p:nvSpPr>
        <p:spPr>
          <a:xfrm flipH="1">
            <a:off x="3748425" y="2144125"/>
            <a:ext cx="1377300" cy="3294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200">
                <a:solidFill>
                  <a:srgbClr val="980000"/>
                </a:solidFill>
                <a:latin typeface="Roboto Serif"/>
                <a:ea typeface="Roboto Serif"/>
                <a:cs typeface="Roboto Serif"/>
                <a:sym typeface="Roboto Serif"/>
              </a:rPr>
              <a:t>Range: 50</a:t>
            </a:r>
            <a:endParaRPr sz="1200">
              <a:solidFill>
                <a:srgbClr val="980000"/>
              </a:solidFill>
              <a:latin typeface="Roboto Serif"/>
              <a:ea typeface="Roboto Serif"/>
              <a:cs typeface="Roboto Serif"/>
              <a:sym typeface="Roboto Serif"/>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cxnSp>
        <p:nvCxnSpPr>
          <p:cNvPr id="222" name="Google Shape;222;p23"/>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223" name="Google Shape;223;p23"/>
          <p:cNvSpPr/>
          <p:nvPr/>
        </p:nvSpPr>
        <p:spPr>
          <a:xfrm>
            <a:off x="722475" y="1722425"/>
            <a:ext cx="7735200" cy="1828800"/>
          </a:xfrm>
          <a:prstGeom prst="roundRect">
            <a:avLst>
              <a:gd fmla="val 16667" name="adj"/>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solidFill>
                  <a:schemeClr val="lt1"/>
                </a:solidFill>
                <a:latin typeface="Roboto Serif"/>
                <a:ea typeface="Roboto Serif"/>
                <a:cs typeface="Roboto Serif"/>
                <a:sym typeface="Roboto Serif"/>
              </a:rPr>
              <a:t>Our findings indicate that students with neurotic personality traits who experience depression exacerbation show more variation in their number of social contacts POSSIBLY due to low self esteem and negative self-perception.</a:t>
            </a:r>
            <a:endParaRPr b="1" sz="1800">
              <a:solidFill>
                <a:schemeClr val="lt1"/>
              </a:solidFill>
              <a:latin typeface="Roboto Serif"/>
              <a:ea typeface="Roboto Serif"/>
              <a:cs typeface="Roboto Serif"/>
              <a:sym typeface="Roboto Serif"/>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4"/>
          <p:cNvSpPr txBox="1"/>
          <p:nvPr/>
        </p:nvSpPr>
        <p:spPr>
          <a:xfrm>
            <a:off x="1939050" y="4047375"/>
            <a:ext cx="5265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Serif"/>
                <a:ea typeface="Roboto Serif"/>
                <a:cs typeface="Roboto Serif"/>
                <a:sym typeface="Roboto Serif"/>
              </a:rPr>
              <a:t>Ohida Binte Amin</a:t>
            </a:r>
            <a:endParaRPr sz="1600">
              <a:solidFill>
                <a:schemeClr val="dk1"/>
              </a:solidFill>
              <a:latin typeface="Roboto Serif"/>
              <a:ea typeface="Roboto Serif"/>
              <a:cs typeface="Roboto Serif"/>
              <a:sym typeface="Roboto Serif"/>
            </a:endParaRPr>
          </a:p>
          <a:p>
            <a:pPr indent="0" lvl="0" marL="0" rtl="0" algn="l">
              <a:spcBef>
                <a:spcPts val="0"/>
              </a:spcBef>
              <a:spcAft>
                <a:spcPts val="0"/>
              </a:spcAft>
              <a:buNone/>
            </a:pPr>
            <a:r>
              <a:rPr lang="en" sz="1600">
                <a:solidFill>
                  <a:schemeClr val="dk1"/>
                </a:solidFill>
                <a:latin typeface="Roboto Serif"/>
                <a:ea typeface="Roboto Serif"/>
                <a:cs typeface="Roboto Serif"/>
                <a:sym typeface="Roboto Serif"/>
              </a:rPr>
              <a:t>Email ID: amin.o@northeastern.edu</a:t>
            </a:r>
            <a:endParaRPr sz="1600">
              <a:solidFill>
                <a:schemeClr val="dk1"/>
              </a:solidFill>
              <a:latin typeface="Roboto Serif"/>
              <a:ea typeface="Roboto Serif"/>
              <a:cs typeface="Roboto Serif"/>
              <a:sym typeface="Roboto Serif"/>
            </a:endParaRPr>
          </a:p>
        </p:txBody>
      </p:sp>
      <p:pic>
        <p:nvPicPr>
          <p:cNvPr id="229" name="Google Shape;229;p24"/>
          <p:cNvPicPr preferRelativeResize="0"/>
          <p:nvPr/>
        </p:nvPicPr>
        <p:blipFill>
          <a:blip r:embed="rId3">
            <a:alphaModFix/>
          </a:blip>
          <a:stretch>
            <a:fillRect/>
          </a:stretch>
        </p:blipFill>
        <p:spPr>
          <a:xfrm>
            <a:off x="209475" y="4200075"/>
            <a:ext cx="1351750" cy="371725"/>
          </a:xfrm>
          <a:prstGeom prst="rect">
            <a:avLst/>
          </a:prstGeom>
          <a:noFill/>
          <a:ln>
            <a:noFill/>
          </a:ln>
        </p:spPr>
      </p:pic>
      <p:sp>
        <p:nvSpPr>
          <p:cNvPr id="230" name="Google Shape;230;p24"/>
          <p:cNvSpPr txBox="1"/>
          <p:nvPr/>
        </p:nvSpPr>
        <p:spPr>
          <a:xfrm>
            <a:off x="623450" y="4495588"/>
            <a:ext cx="676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Roboto Serif"/>
                <a:ea typeface="Roboto Serif"/>
                <a:cs typeface="Roboto Serif"/>
                <a:sym typeface="Roboto Serif"/>
              </a:rPr>
              <a:t>LAB</a:t>
            </a:r>
            <a:endParaRPr b="1" sz="1600">
              <a:solidFill>
                <a:schemeClr val="dk1"/>
              </a:solidFill>
              <a:latin typeface="Roboto Serif"/>
              <a:ea typeface="Roboto Serif"/>
              <a:cs typeface="Roboto Serif"/>
              <a:sym typeface="Roboto Serif"/>
            </a:endParaRPr>
          </a:p>
        </p:txBody>
      </p:sp>
      <p:sp>
        <p:nvSpPr>
          <p:cNvPr id="231" name="Google Shape;231;p24"/>
          <p:cNvSpPr txBox="1"/>
          <p:nvPr/>
        </p:nvSpPr>
        <p:spPr>
          <a:xfrm>
            <a:off x="623450" y="3834000"/>
            <a:ext cx="676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Roboto Serif"/>
                <a:ea typeface="Roboto Serif"/>
                <a:cs typeface="Roboto Serif"/>
                <a:sym typeface="Roboto Serif"/>
              </a:rPr>
              <a:t>THE</a:t>
            </a:r>
            <a:endParaRPr b="1" sz="1600">
              <a:solidFill>
                <a:schemeClr val="dk1"/>
              </a:solidFill>
              <a:latin typeface="Roboto Serif"/>
              <a:ea typeface="Roboto Serif"/>
              <a:cs typeface="Roboto Serif"/>
              <a:sym typeface="Roboto Serif"/>
            </a:endParaRPr>
          </a:p>
        </p:txBody>
      </p:sp>
      <p:cxnSp>
        <p:nvCxnSpPr>
          <p:cNvPr id="232" name="Google Shape;232;p24"/>
          <p:cNvCxnSpPr/>
          <p:nvPr/>
        </p:nvCxnSpPr>
        <p:spPr>
          <a:xfrm>
            <a:off x="-1500" y="5143500"/>
            <a:ext cx="9147000" cy="0"/>
          </a:xfrm>
          <a:prstGeom prst="straightConnector1">
            <a:avLst/>
          </a:prstGeom>
          <a:noFill/>
          <a:ln cap="flat" cmpd="sng" w="114300">
            <a:solidFill>
              <a:srgbClr val="E06666"/>
            </a:solidFill>
            <a:prstDash val="solid"/>
            <a:round/>
            <a:headEnd len="med" w="med" type="none"/>
            <a:tailEnd len="med" w="med" type="none"/>
          </a:ln>
        </p:spPr>
      </p:cxnSp>
      <p:sp>
        <p:nvSpPr>
          <p:cNvPr id="233" name="Google Shape;233;p24"/>
          <p:cNvSpPr txBox="1"/>
          <p:nvPr/>
        </p:nvSpPr>
        <p:spPr>
          <a:xfrm>
            <a:off x="2831150" y="1848450"/>
            <a:ext cx="32517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3500">
                <a:latin typeface="Roboto Serif"/>
                <a:ea typeface="Roboto Serif"/>
                <a:cs typeface="Roboto Serif"/>
                <a:sym typeface="Roboto Serif"/>
              </a:rPr>
              <a:t>Thank </a:t>
            </a:r>
            <a:endParaRPr b="1" i="1" sz="3500">
              <a:latin typeface="Roboto Serif"/>
              <a:ea typeface="Roboto Serif"/>
              <a:cs typeface="Roboto Serif"/>
              <a:sym typeface="Roboto Serif"/>
            </a:endParaRPr>
          </a:p>
          <a:p>
            <a:pPr indent="0" lvl="0" marL="0" rtl="0" algn="ctr">
              <a:spcBef>
                <a:spcPts val="0"/>
              </a:spcBef>
              <a:spcAft>
                <a:spcPts val="0"/>
              </a:spcAft>
              <a:buNone/>
            </a:pPr>
            <a:r>
              <a:rPr b="1" i="1" lang="en" sz="3500">
                <a:latin typeface="Roboto Serif"/>
                <a:ea typeface="Roboto Serif"/>
                <a:cs typeface="Roboto Serif"/>
                <a:sym typeface="Roboto Serif"/>
              </a:rPr>
              <a:t>You…</a:t>
            </a:r>
            <a:endParaRPr b="1" i="1" sz="3500">
              <a:latin typeface="Roboto Serif"/>
              <a:ea typeface="Roboto Serif"/>
              <a:cs typeface="Roboto Serif"/>
              <a:sym typeface="Roboto Serif"/>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